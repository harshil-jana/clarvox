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91" r:id="rId3"/>
    <p:sldId id="281" r:id="rId4"/>
    <p:sldId id="298" r:id="rId6"/>
    <p:sldId id="293" r:id="rId7"/>
    <p:sldId id="294" r:id="rId8"/>
    <p:sldId id="296" r:id="rId9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7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06" autoAdjust="0"/>
    <p:restoredTop sz="94660"/>
  </p:normalViewPr>
  <p:slideViewPr>
    <p:cSldViewPr snapToGrid="0" snapToObjects="1" showGuides="1">
      <p:cViewPr>
        <p:scale>
          <a:sx n="75" d="100"/>
          <a:sy n="75" d="100"/>
        </p:scale>
        <p:origin x="1176" y="120"/>
      </p:cViewPr>
      <p:guideLst>
        <p:guide orient="horz" pos="2136"/>
        <p:guide pos="3877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MS PGothic" panose="020B0600070205080204" pitchFamily="1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65F62A7E-A2F8-438F-9CF8-47DE63F471B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0CA7B74D-3791-4AC6-8451-F10DBCCCDD9A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dirty="0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2EEB937-E951-46CE-97FC-8E299420715E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AA3DA5E-B207-425A-B7B6-9A4EF1E8C2C7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3C00328-9F1D-4E72-9D07-0A3DA73222A2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343A8DB-41DB-45B7-BB4B-D8B9B5260C18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5B929C4-E059-47C6-92FD-2018240F3DDE}" type="datetime1">
              <a:rPr lang="en-US" smtClean="0"/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63E159-AACF-4190-BED2-5282C431F977}" type="datetime1">
              <a:rPr lang="en-US" smtClean="0"/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6032F61-E28F-4E7C-9440-8240ED4E8928}" type="datetime1">
              <a:rPr lang="en-US" smtClean="0"/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9BD5908-10BD-439F-8D88-5750B95257D3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61FF543-2803-4FEA-B425-DBD42407DD21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38F8282-1B60-4256-ABE0-E3DE3DD61CC2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2C2EE0E-94D8-4150-86D9-BE48A20492C5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03920840-1EB3-4A83-97D2-AF1A4E73E365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r="59916"/>
          <a:stretch>
            <a:fillRect/>
          </a:stretch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016965" y="479400"/>
            <a:ext cx="8534400" cy="1153387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6814" y="1543237"/>
            <a:ext cx="11843122" cy="4686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IN" sz="2400" dirty="0"/>
              <a:t>26052</a:t>
            </a:r>
            <a:endParaRPr lang="en-IN" sz="2400" dirty="0"/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  <a:r>
              <a:rPr lang="en-IN" sz="2400" dirty="0"/>
              <a:t>To develop an AI/ML-enabled adaptive noise cancellation (ANC) system that effectively suppresses stationary, non-stationary, and impulsive defence noises while maintaining high speech intelligibility and real-time performance on embedded hardware.</a:t>
            </a:r>
            <a:endParaRPr lang="en-IN" sz="2400" dirty="0"/>
          </a:p>
          <a:p>
            <a:pPr algn="just">
              <a:lnSpc>
                <a:spcPct val="100000"/>
              </a:lnSpc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IN" sz="2400" dirty="0"/>
              <a:t>Miscellaneous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dirty="0">
                <a:latin typeface="+mn-lt"/>
                <a:cs typeface="Arial" panose="020B0604020202020204" pitchFamily="34" charset="0"/>
              </a:rPr>
              <a:t>Hardware</a:t>
            </a:r>
            <a:endParaRPr lang="en-US" sz="2400" dirty="0">
              <a:latin typeface="+mn-lt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- </a:t>
            </a:r>
            <a:r>
              <a:rPr lang="en-US" sz="2400" dirty="0">
                <a:latin typeface="+mj-lt"/>
                <a:cs typeface="Arial" panose="020B0604020202020204" pitchFamily="34" charset="0"/>
              </a:rPr>
              <a:t>Phoenix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609601" y="-47625"/>
            <a:ext cx="10127226" cy="1126051"/>
          </a:xfrm>
        </p:spPr>
        <p:txBody>
          <a:bodyPr/>
          <a:lstStyle/>
          <a:p>
            <a:pPr eaLnBrk="1" hangingPunct="1"/>
            <a:br>
              <a:rPr lang="en-US" sz="24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ADAPTIVE AI SPEECH ENHANCEMENT FOR DEFENCE COMMUNICATION</a:t>
            </a:r>
            <a:endParaRPr lang="en-US" sz="24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25755-D468-486F-AB43-1D8020DEF35A}" type="slidenum">
              <a:rPr lang="en-US" b="1" smtClean="0">
                <a:solidFill>
                  <a:schemeClr val="tx1"/>
                </a:solidFill>
              </a:rPr>
            </a:fld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0" name="Oval 9" descr="Your startup LOGO"/>
          <p:cNvSpPr/>
          <p:nvPr/>
        </p:nvSpPr>
        <p:spPr>
          <a:xfrm>
            <a:off x="188595" y="252095"/>
            <a:ext cx="1392555" cy="80708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Cambria" panose="02040503050406030204" charset="0"/>
                <a:cs typeface="Cambria" panose="02040503050406030204" charset="0"/>
              </a:rPr>
              <a:t>Phoenix</a:t>
            </a:r>
            <a:endParaRPr lang="en-IN" sz="1600" b="1" dirty="0">
              <a:latin typeface="Cambria" panose="02040503050406030204" charset="0"/>
              <a:cs typeface="Cambria" panose="0204050305040603020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249086" y="1199536"/>
            <a:ext cx="11613141" cy="48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600" b="1" dirty="0">
                <a:solidFill>
                  <a:srgbClr val="444444"/>
                </a:solidFill>
                <a:latin typeface="Arial" panose="020B0604020202020204"/>
              </a:rPr>
              <a:t>An AI/ML-based adaptive noise cancellation system for real-time </a:t>
            </a:r>
            <a:r>
              <a:rPr sz="1600" b="1" dirty="0" err="1">
                <a:solidFill>
                  <a:srgbClr val="444444"/>
                </a:solidFill>
                <a:latin typeface="Arial" panose="020B0604020202020204"/>
              </a:rPr>
              <a:t>defence</a:t>
            </a:r>
            <a:r>
              <a:rPr sz="1600" b="1" dirty="0">
                <a:solidFill>
                  <a:srgbClr val="444444"/>
                </a:solidFill>
                <a:latin typeface="Arial" panose="020B0604020202020204"/>
              </a:rPr>
              <a:t> communication.</a:t>
            </a:r>
            <a:endParaRPr sz="1600" b="1" dirty="0">
              <a:solidFill>
                <a:srgbClr val="444444"/>
              </a:solidFill>
              <a:latin typeface="Arial" panose="020B0604020202020204"/>
            </a:endParaRPr>
          </a:p>
          <a:p>
            <a:pPr algn="l"/>
            <a:r>
              <a:rPr sz="1600" b="1" dirty="0">
                <a:solidFill>
                  <a:srgbClr val="444444"/>
                </a:solidFill>
                <a:latin typeface="Arial" panose="020B0604020202020204"/>
              </a:rPr>
              <a:t>Suppresses stationary, non-stationary, and impulsive battlefield noise directly on embedded hardware.</a:t>
            </a:r>
            <a:endParaRPr sz="1600" b="1" dirty="0">
              <a:solidFill>
                <a:srgbClr val="444444"/>
              </a:solidFill>
              <a:latin typeface="Arial" panose="020B0604020202020204"/>
            </a:endParaRPr>
          </a:p>
        </p:txBody>
      </p:sp>
      <p:sp>
        <p:nvSpPr>
          <p:cNvPr id="15363" name="TextBox 15362"/>
          <p:cNvSpPr txBox="1"/>
          <p:nvPr/>
        </p:nvSpPr>
        <p:spPr>
          <a:xfrm>
            <a:off x="249086" y="1740000"/>
            <a:ext cx="6000000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sz="1600" b="1">
                <a:solidFill>
                  <a:srgbClr val="1F497D"/>
                </a:solidFill>
                <a:latin typeface="Arial" panose="020B0604020202020204"/>
              </a:rPr>
              <a:t>1.   PROPOSED SOLUTION</a:t>
            </a:r>
            <a:endParaRPr sz="1600" b="1">
              <a:solidFill>
                <a:srgbClr val="1F497D"/>
              </a:solidFill>
              <a:latin typeface="Arial" panose="020B0604020202020204"/>
            </a:endParaRPr>
          </a:p>
        </p:txBody>
      </p:sp>
      <p:sp>
        <p:nvSpPr>
          <p:cNvPr id="15364" name="Rounded Rectangle 15363"/>
          <p:cNvSpPr/>
          <p:nvPr/>
        </p:nvSpPr>
        <p:spPr>
          <a:xfrm>
            <a:off x="249086" y="2120000"/>
            <a:ext cx="1760523" cy="822960"/>
          </a:xfrm>
          <a:prstGeom prst="roundRect">
            <a:avLst>
              <a:gd name="adj" fmla="val 7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 dirty="0">
                <a:solidFill>
                  <a:srgbClr val="FFFFFF"/>
                </a:solidFill>
                <a:latin typeface="Arial" panose="020B0604020202020204"/>
              </a:rPr>
              <a:t>CAPTURE</a:t>
            </a:r>
            <a:r>
              <a:rPr lang="en-IN" sz="1050" b="1" dirty="0">
                <a:solidFill>
                  <a:srgbClr val="FFFFFF"/>
                </a:solidFill>
                <a:latin typeface="Arial" panose="020B0604020202020204"/>
              </a:rPr>
              <a:t>[3][4]</a:t>
            </a:r>
            <a:endParaRPr sz="1050" b="1" dirty="0">
              <a:solidFill>
                <a:srgbClr val="FFFFFF"/>
              </a:solidFill>
              <a:latin typeface="Arial" panose="020B0604020202020204"/>
            </a:endParaRPr>
          </a:p>
          <a:p>
            <a:pPr algn="ctr">
              <a:spcBef>
                <a:spcPts val="200"/>
              </a:spcBef>
            </a:pPr>
            <a:r>
              <a:rPr sz="850" b="0" dirty="0">
                <a:solidFill>
                  <a:srgbClr val="E4EEFB"/>
                </a:solidFill>
                <a:latin typeface="Arial" panose="020B0604020202020204"/>
              </a:rPr>
              <a:t>Speech + </a:t>
            </a:r>
            <a:r>
              <a:rPr sz="850" b="0" dirty="0" err="1">
                <a:solidFill>
                  <a:srgbClr val="E4EEFB"/>
                </a:solidFill>
                <a:latin typeface="Arial" panose="020B0604020202020204"/>
              </a:rPr>
              <a:t>Defence</a:t>
            </a:r>
            <a:r>
              <a:rPr sz="850" b="0" dirty="0">
                <a:solidFill>
                  <a:srgbClr val="E4EEFB"/>
                </a:solidFill>
                <a:latin typeface="Arial" panose="020B0604020202020204"/>
              </a:rPr>
              <a:t> Noise</a:t>
            </a:r>
            <a:endParaRPr sz="850" b="0" dirty="0">
              <a:solidFill>
                <a:srgbClr val="E4EEFB"/>
              </a:solidFill>
              <a:latin typeface="Arial" panose="020B0604020202020204"/>
            </a:endParaRPr>
          </a:p>
        </p:txBody>
      </p:sp>
      <p:sp>
        <p:nvSpPr>
          <p:cNvPr id="15365" name="Right Arrow 15364"/>
          <p:cNvSpPr/>
          <p:nvPr/>
        </p:nvSpPr>
        <p:spPr>
          <a:xfrm>
            <a:off x="2009609" y="2436230"/>
            <a:ext cx="210000" cy="190500"/>
          </a:xfrm>
          <a:prstGeom prst="rightArrow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6" name="Rounded Rectangle 15365"/>
          <p:cNvSpPr/>
          <p:nvPr/>
        </p:nvSpPr>
        <p:spPr>
          <a:xfrm>
            <a:off x="2219609" y="2120000"/>
            <a:ext cx="1760523" cy="822960"/>
          </a:xfrm>
          <a:prstGeom prst="roundRect">
            <a:avLst>
              <a:gd name="adj" fmla="val 7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 panose="020B0604020202020204"/>
              </a:rPr>
              <a:t>ANALYZE</a:t>
            </a:r>
            <a:endParaRPr sz="1050" b="1">
              <a:solidFill>
                <a:srgbClr val="FFFFFF"/>
              </a:solidFill>
              <a:latin typeface="Arial" panose="020B0604020202020204"/>
            </a:endParaRPr>
          </a:p>
          <a:p>
            <a:pPr algn="ctr">
              <a:spcBef>
                <a:spcPts val="200"/>
              </a:spcBef>
            </a:pPr>
            <a:r>
              <a:rPr sz="850" b="0">
                <a:solidFill>
                  <a:srgbClr val="E4EEFB"/>
                </a:solidFill>
                <a:latin typeface="Arial" panose="020B0604020202020204"/>
              </a:rPr>
              <a:t>Speech &amp; Noise Characteristics</a:t>
            </a:r>
            <a:endParaRPr sz="850" b="0">
              <a:solidFill>
                <a:srgbClr val="E4EEFB"/>
              </a:solidFill>
              <a:latin typeface="Arial" panose="020B0604020202020204"/>
            </a:endParaRPr>
          </a:p>
        </p:txBody>
      </p:sp>
      <p:sp>
        <p:nvSpPr>
          <p:cNvPr id="15367" name="Right Arrow 15366"/>
          <p:cNvSpPr/>
          <p:nvPr/>
        </p:nvSpPr>
        <p:spPr>
          <a:xfrm>
            <a:off x="3980132" y="2436230"/>
            <a:ext cx="210000" cy="190500"/>
          </a:xfrm>
          <a:prstGeom prst="rightArrow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8" name="Rounded Rectangle 15367"/>
          <p:cNvSpPr/>
          <p:nvPr/>
        </p:nvSpPr>
        <p:spPr>
          <a:xfrm>
            <a:off x="4190132" y="2120000"/>
            <a:ext cx="1760523" cy="822960"/>
          </a:xfrm>
          <a:prstGeom prst="roundRect">
            <a:avLst>
              <a:gd name="adj" fmla="val 7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 panose="020B0604020202020204"/>
              </a:rPr>
              <a:t>ADAPT</a:t>
            </a:r>
            <a:endParaRPr sz="1050" b="1">
              <a:solidFill>
                <a:srgbClr val="FFFFFF"/>
              </a:solidFill>
              <a:latin typeface="Arial" panose="020B0604020202020204"/>
            </a:endParaRPr>
          </a:p>
          <a:p>
            <a:pPr algn="ctr">
              <a:spcBef>
                <a:spcPts val="200"/>
              </a:spcBef>
            </a:pPr>
            <a:r>
              <a:rPr sz="850" b="0">
                <a:solidFill>
                  <a:srgbClr val="E4EEFB"/>
                </a:solidFill>
                <a:latin typeface="Arial" panose="020B0604020202020204"/>
              </a:rPr>
              <a:t>Changing Noise Conditions</a:t>
            </a:r>
            <a:endParaRPr sz="850" b="0">
              <a:solidFill>
                <a:srgbClr val="E4EEFB"/>
              </a:solidFill>
              <a:latin typeface="Arial" panose="020B0604020202020204"/>
            </a:endParaRPr>
          </a:p>
        </p:txBody>
      </p:sp>
      <p:sp>
        <p:nvSpPr>
          <p:cNvPr id="15369" name="Right Arrow 15368"/>
          <p:cNvSpPr/>
          <p:nvPr/>
        </p:nvSpPr>
        <p:spPr>
          <a:xfrm>
            <a:off x="5950655" y="2436230"/>
            <a:ext cx="210000" cy="190500"/>
          </a:xfrm>
          <a:prstGeom prst="rightArrow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0" name="Rounded Rectangle 15369"/>
          <p:cNvSpPr/>
          <p:nvPr/>
        </p:nvSpPr>
        <p:spPr>
          <a:xfrm>
            <a:off x="6160655" y="2120000"/>
            <a:ext cx="1760523" cy="822960"/>
          </a:xfrm>
          <a:prstGeom prst="roundRect">
            <a:avLst>
              <a:gd name="adj" fmla="val 7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 panose="020B0604020202020204"/>
              </a:rPr>
              <a:t>AI ENHANCE</a:t>
            </a:r>
            <a:endParaRPr sz="1050" b="1">
              <a:solidFill>
                <a:srgbClr val="FFFFFF"/>
              </a:solidFill>
              <a:latin typeface="Arial" panose="020B0604020202020204"/>
            </a:endParaRPr>
          </a:p>
          <a:p>
            <a:pPr algn="ctr">
              <a:spcBef>
                <a:spcPts val="200"/>
              </a:spcBef>
            </a:pPr>
            <a:r>
              <a:rPr sz="850" b="0">
                <a:solidFill>
                  <a:srgbClr val="E4EEFB"/>
                </a:solidFill>
                <a:latin typeface="Arial" panose="020B0604020202020204"/>
              </a:rPr>
              <a:t>Suppress Noise + Preserve Speech</a:t>
            </a:r>
            <a:endParaRPr sz="850" b="0">
              <a:solidFill>
                <a:srgbClr val="E4EEFB"/>
              </a:solidFill>
              <a:latin typeface="Arial" panose="020B0604020202020204"/>
            </a:endParaRPr>
          </a:p>
        </p:txBody>
      </p:sp>
      <p:sp>
        <p:nvSpPr>
          <p:cNvPr id="15371" name="Right Arrow 15370"/>
          <p:cNvSpPr/>
          <p:nvPr/>
        </p:nvSpPr>
        <p:spPr>
          <a:xfrm>
            <a:off x="7921178" y="2436230"/>
            <a:ext cx="210000" cy="190500"/>
          </a:xfrm>
          <a:prstGeom prst="rightArrow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2" name="Rounded Rectangle 15371"/>
          <p:cNvSpPr/>
          <p:nvPr/>
        </p:nvSpPr>
        <p:spPr>
          <a:xfrm>
            <a:off x="8131178" y="2120000"/>
            <a:ext cx="1760523" cy="822960"/>
          </a:xfrm>
          <a:prstGeom prst="roundRect">
            <a:avLst>
              <a:gd name="adj" fmla="val 7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 panose="020B0604020202020204"/>
              </a:rPr>
              <a:t>EDGE PROCESS</a:t>
            </a:r>
            <a:endParaRPr sz="1050" b="1">
              <a:solidFill>
                <a:srgbClr val="FFFFFF"/>
              </a:solidFill>
              <a:latin typeface="Arial" panose="020B0604020202020204"/>
            </a:endParaRPr>
          </a:p>
          <a:p>
            <a:pPr algn="ctr">
              <a:spcBef>
                <a:spcPts val="200"/>
              </a:spcBef>
            </a:pPr>
            <a:r>
              <a:rPr sz="850" b="0">
                <a:solidFill>
                  <a:srgbClr val="E4EEFB"/>
                </a:solidFill>
                <a:latin typeface="Arial" panose="020B0604020202020204"/>
              </a:rPr>
              <a:t>Low-Latency Local Inference</a:t>
            </a:r>
            <a:endParaRPr sz="850" b="0">
              <a:solidFill>
                <a:srgbClr val="E4EEFB"/>
              </a:solidFill>
              <a:latin typeface="Arial" panose="020B0604020202020204"/>
            </a:endParaRPr>
          </a:p>
        </p:txBody>
      </p:sp>
      <p:sp>
        <p:nvSpPr>
          <p:cNvPr id="15373" name="Right Arrow 15372"/>
          <p:cNvSpPr/>
          <p:nvPr/>
        </p:nvSpPr>
        <p:spPr>
          <a:xfrm>
            <a:off x="9891701" y="2436230"/>
            <a:ext cx="210000" cy="190500"/>
          </a:xfrm>
          <a:prstGeom prst="rightArrow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4" name="Rounded Rectangle 15373"/>
          <p:cNvSpPr/>
          <p:nvPr/>
        </p:nvSpPr>
        <p:spPr>
          <a:xfrm>
            <a:off x="10101701" y="2120000"/>
            <a:ext cx="1760523" cy="822960"/>
          </a:xfrm>
          <a:prstGeom prst="roundRect">
            <a:avLst>
              <a:gd name="adj" fmla="val 7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 panose="020B0604020202020204"/>
              </a:rPr>
              <a:t>OUTPUT</a:t>
            </a:r>
            <a:endParaRPr sz="1050" b="1">
              <a:solidFill>
                <a:srgbClr val="FFFFFF"/>
              </a:solidFill>
              <a:latin typeface="Arial" panose="020B0604020202020204"/>
            </a:endParaRPr>
          </a:p>
          <a:p>
            <a:pPr algn="ctr">
              <a:spcBef>
                <a:spcPts val="200"/>
              </a:spcBef>
            </a:pPr>
            <a:r>
              <a:rPr sz="850" b="0">
                <a:solidFill>
                  <a:srgbClr val="E4EEFB"/>
                </a:solidFill>
                <a:latin typeface="Arial" panose="020B0604020202020204"/>
              </a:rPr>
              <a:t>Intelligible Speech</a:t>
            </a:r>
            <a:endParaRPr sz="850" b="0">
              <a:solidFill>
                <a:srgbClr val="E4EEFB"/>
              </a:solidFill>
              <a:latin typeface="Arial" panose="020B0604020202020204"/>
            </a:endParaRPr>
          </a:p>
        </p:txBody>
      </p:sp>
      <p:sp>
        <p:nvSpPr>
          <p:cNvPr id="15375" name="Rectangle 15374"/>
          <p:cNvSpPr/>
          <p:nvPr/>
        </p:nvSpPr>
        <p:spPr>
          <a:xfrm>
            <a:off x="249086" y="3092960"/>
            <a:ext cx="5706570" cy="3140692"/>
          </a:xfrm>
          <a:prstGeom prst="rect">
            <a:avLst/>
          </a:prstGeom>
          <a:noFill/>
          <a:ln w="15875">
            <a:solidFill>
              <a:srgbClr val="9A9A9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i="1">
                <a:solidFill>
                  <a:srgbClr val="9A9A9A"/>
                </a:solidFill>
                <a:latin typeface="Arial" panose="020B0604020202020204"/>
              </a:rPr>
              <a:t>Paste image here</a:t>
            </a:r>
            <a:endParaRPr sz="1300" i="1">
              <a:solidFill>
                <a:srgbClr val="9A9A9A"/>
              </a:solidFill>
              <a:latin typeface="Arial" panose="020B0604020202020204"/>
            </a:endParaRPr>
          </a:p>
        </p:txBody>
      </p:sp>
      <p:sp>
        <p:nvSpPr>
          <p:cNvPr id="15376" name="Rectangle 15375"/>
          <p:cNvSpPr/>
          <p:nvPr/>
        </p:nvSpPr>
        <p:spPr>
          <a:xfrm>
            <a:off x="6249001" y="3092960"/>
            <a:ext cx="5706570" cy="1495346"/>
          </a:xfrm>
          <a:prstGeom prst="rect">
            <a:avLst/>
          </a:prstGeom>
          <a:solidFill>
            <a:srgbClr val="FFFFFF"/>
          </a:solidFill>
          <a:ln w="22225">
            <a:solidFill>
              <a:srgbClr val="4BA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0000" tIns="80000" rIns="120000" bIns="80000" rtlCol="0" anchor="t"/>
          <a:lstStyle/>
          <a:p>
            <a:pPr algn="l"/>
            <a:r>
              <a:rPr sz="1500" b="1">
                <a:solidFill>
                  <a:srgbClr val="1F497D"/>
                </a:solidFill>
                <a:latin typeface="Arial" panose="020B0604020202020204"/>
              </a:rPr>
              <a:t>2.   HOW IT ADDRESSES THE PROBLEM</a:t>
            </a:r>
            <a:endParaRPr sz="1500" b="1">
              <a:solidFill>
                <a:srgbClr val="1F497D"/>
              </a:solidFill>
              <a:latin typeface="Arial" panose="020B0604020202020204"/>
            </a:endParaRPr>
          </a:p>
          <a:p>
            <a:pPr algn="l">
              <a:spcBef>
                <a:spcPts val="500"/>
              </a:spcBef>
            </a:pPr>
            <a:r>
              <a:rPr sz="1000" b="1">
                <a:solidFill>
                  <a:srgbClr val="1F497D"/>
                </a:solidFill>
                <a:latin typeface="Arial" panose="020B0604020202020204"/>
              </a:rPr>
              <a:t>Noise Suppression: </a:t>
            </a:r>
            <a:r>
              <a:rPr sz="1000" b="0">
                <a:solidFill>
                  <a:srgbClr val="444444"/>
                </a:solidFill>
                <a:latin typeface="Arial" panose="020B0604020202020204"/>
              </a:rPr>
              <a:t>removes noise, keeps speech clear</a:t>
            </a:r>
            <a:endParaRPr sz="1000" b="0">
              <a:solidFill>
                <a:srgbClr val="444444"/>
              </a:solidFill>
              <a:latin typeface="Arial" panose="020B0604020202020204"/>
            </a:endParaRPr>
          </a:p>
          <a:p>
            <a:pPr algn="l">
              <a:spcBef>
                <a:spcPts val="500"/>
              </a:spcBef>
            </a:pPr>
            <a:r>
              <a:rPr sz="1000" b="1">
                <a:solidFill>
                  <a:srgbClr val="1F497D"/>
                </a:solidFill>
                <a:latin typeface="Arial" panose="020B0604020202020204"/>
              </a:rPr>
              <a:t>Dynamic Adaptation: </a:t>
            </a:r>
            <a:r>
              <a:rPr sz="1000" b="0">
                <a:solidFill>
                  <a:srgbClr val="444444"/>
                </a:solidFill>
                <a:latin typeface="Arial" panose="020B0604020202020204"/>
              </a:rPr>
              <a:t>adjusts to changing noise conditions</a:t>
            </a:r>
            <a:endParaRPr sz="1000" b="0">
              <a:solidFill>
                <a:srgbClr val="444444"/>
              </a:solidFill>
              <a:latin typeface="Arial" panose="020B0604020202020204"/>
            </a:endParaRPr>
          </a:p>
          <a:p>
            <a:pPr algn="l">
              <a:spcBef>
                <a:spcPts val="500"/>
              </a:spcBef>
            </a:pPr>
            <a:r>
              <a:rPr sz="1000" b="1">
                <a:solidFill>
                  <a:srgbClr val="1F497D"/>
                </a:solidFill>
                <a:latin typeface="Arial" panose="020B0604020202020204"/>
              </a:rPr>
              <a:t>Impulsive Response: </a:t>
            </a:r>
            <a:r>
              <a:rPr sz="1000" b="0">
                <a:solidFill>
                  <a:srgbClr val="444444"/>
                </a:solidFill>
                <a:latin typeface="Arial" panose="020B0604020202020204"/>
              </a:rPr>
              <a:t>reacts instantly to sudden loud sounds</a:t>
            </a:r>
            <a:endParaRPr sz="1000" b="0">
              <a:solidFill>
                <a:srgbClr val="444444"/>
              </a:solidFill>
              <a:latin typeface="Arial" panose="020B0604020202020204"/>
            </a:endParaRPr>
          </a:p>
          <a:p>
            <a:pPr algn="l">
              <a:spcBef>
                <a:spcPts val="500"/>
              </a:spcBef>
            </a:pPr>
            <a:r>
              <a:rPr sz="1000" b="1">
                <a:solidFill>
                  <a:srgbClr val="1F497D"/>
                </a:solidFill>
                <a:latin typeface="Arial" panose="020B0604020202020204"/>
              </a:rPr>
              <a:t>Speech Preservation: </a:t>
            </a:r>
            <a:r>
              <a:rPr sz="1000" b="0">
                <a:solidFill>
                  <a:srgbClr val="444444"/>
                </a:solidFill>
                <a:latin typeface="Arial" panose="020B0604020202020204"/>
              </a:rPr>
              <a:t>keeps voice clear and intelligible</a:t>
            </a:r>
            <a:endParaRPr sz="1000" b="0">
              <a:solidFill>
                <a:srgbClr val="444444"/>
              </a:solidFill>
              <a:latin typeface="Arial" panose="020B0604020202020204"/>
            </a:endParaRPr>
          </a:p>
          <a:p>
            <a:pPr algn="l">
              <a:spcBef>
                <a:spcPts val="500"/>
              </a:spcBef>
            </a:pPr>
            <a:r>
              <a:rPr sz="1000" b="1">
                <a:solidFill>
                  <a:srgbClr val="1F497D"/>
                </a:solidFill>
                <a:latin typeface="Arial" panose="020B0604020202020204"/>
              </a:rPr>
              <a:t>Edge Processing: </a:t>
            </a:r>
            <a:r>
              <a:rPr sz="1000" b="0">
                <a:solidFill>
                  <a:srgbClr val="444444"/>
                </a:solidFill>
                <a:latin typeface="Arial" panose="020B0604020202020204"/>
              </a:rPr>
              <a:t>local processing for faster response</a:t>
            </a:r>
            <a:endParaRPr sz="1000" b="0">
              <a:solidFill>
                <a:srgbClr val="444444"/>
              </a:solidFill>
              <a:latin typeface="Arial" panose="020B0604020202020204"/>
            </a:endParaRPr>
          </a:p>
        </p:txBody>
      </p:sp>
      <p:sp>
        <p:nvSpPr>
          <p:cNvPr id="15377" name="Rectangle 15376"/>
          <p:cNvSpPr/>
          <p:nvPr/>
        </p:nvSpPr>
        <p:spPr>
          <a:xfrm>
            <a:off x="6249001" y="4738306"/>
            <a:ext cx="5706570" cy="1495346"/>
          </a:xfrm>
          <a:prstGeom prst="rect">
            <a:avLst/>
          </a:prstGeom>
          <a:solidFill>
            <a:srgbClr val="FFFFFF"/>
          </a:solidFill>
          <a:ln w="22225">
            <a:solidFill>
              <a:srgbClr val="4BA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0000" tIns="80000" rIns="120000" bIns="80000" rtlCol="0" anchor="t"/>
          <a:lstStyle/>
          <a:p>
            <a:pPr algn="l"/>
            <a:r>
              <a:rPr sz="1500" b="1" dirty="0">
                <a:solidFill>
                  <a:srgbClr val="1F497D"/>
                </a:solidFill>
                <a:latin typeface="Arial" panose="020B0604020202020204"/>
              </a:rPr>
              <a:t>3.   INNOVATION &amp; UNIQUENESS</a:t>
            </a:r>
            <a:endParaRPr sz="1500" b="1" dirty="0">
              <a:solidFill>
                <a:srgbClr val="1F497D"/>
              </a:solidFill>
              <a:latin typeface="Arial" panose="020B0604020202020204"/>
            </a:endParaRPr>
          </a:p>
          <a:p>
            <a:pPr algn="l">
              <a:spcBef>
                <a:spcPts val="500"/>
              </a:spcBef>
            </a:pPr>
            <a:r>
              <a:rPr sz="1000" b="1" dirty="0" err="1">
                <a:solidFill>
                  <a:srgbClr val="1F497D"/>
                </a:solidFill>
                <a:latin typeface="Arial" panose="020B0604020202020204"/>
              </a:rPr>
              <a:t>Defence</a:t>
            </a:r>
            <a:r>
              <a:rPr sz="1000" b="1" dirty="0">
                <a:solidFill>
                  <a:srgbClr val="1F497D"/>
                </a:solidFill>
                <a:latin typeface="Arial" panose="020B0604020202020204"/>
              </a:rPr>
              <a:t>-Specific AI</a:t>
            </a:r>
            <a:r>
              <a:rPr lang="en-IN" sz="1000" b="1" dirty="0">
                <a:solidFill>
                  <a:srgbClr val="1F497D"/>
                </a:solidFill>
                <a:latin typeface="Arial" panose="020B0604020202020204"/>
              </a:rPr>
              <a:t>[5]</a:t>
            </a:r>
            <a:r>
              <a:rPr sz="1000" b="1" dirty="0">
                <a:solidFill>
                  <a:srgbClr val="1F497D"/>
                </a:solidFill>
                <a:latin typeface="Arial" panose="020B0604020202020204"/>
              </a:rPr>
              <a:t>: </a:t>
            </a:r>
            <a:r>
              <a:rPr sz="1000" b="0" dirty="0">
                <a:solidFill>
                  <a:srgbClr val="444444"/>
                </a:solidFill>
                <a:latin typeface="Arial" panose="020B0604020202020204"/>
              </a:rPr>
              <a:t>extended with curated </a:t>
            </a:r>
            <a:r>
              <a:rPr sz="1000" b="0" dirty="0" err="1">
                <a:solidFill>
                  <a:srgbClr val="444444"/>
                </a:solidFill>
                <a:latin typeface="Arial" panose="020B0604020202020204"/>
              </a:rPr>
              <a:t>defence</a:t>
            </a:r>
            <a:r>
              <a:rPr sz="1000" b="0" dirty="0">
                <a:solidFill>
                  <a:srgbClr val="444444"/>
                </a:solidFill>
                <a:latin typeface="Arial" panose="020B0604020202020204"/>
              </a:rPr>
              <a:t>-relevant sounds</a:t>
            </a:r>
            <a:endParaRPr sz="1000" b="0" dirty="0">
              <a:solidFill>
                <a:srgbClr val="444444"/>
              </a:solidFill>
              <a:latin typeface="Arial" panose="020B0604020202020204"/>
            </a:endParaRPr>
          </a:p>
          <a:p>
            <a:pPr algn="l">
              <a:spcBef>
                <a:spcPts val="500"/>
              </a:spcBef>
            </a:pPr>
            <a:r>
              <a:rPr sz="1000" b="1" dirty="0">
                <a:solidFill>
                  <a:srgbClr val="1F497D"/>
                </a:solidFill>
                <a:latin typeface="Arial" panose="020B0604020202020204"/>
              </a:rPr>
              <a:t>Dynamic Adaptation: </a:t>
            </a:r>
            <a:r>
              <a:rPr sz="1000" b="0" dirty="0">
                <a:solidFill>
                  <a:srgbClr val="444444"/>
                </a:solidFill>
                <a:latin typeface="Arial" panose="020B0604020202020204"/>
              </a:rPr>
              <a:t>auto-adjusts as surrounding noise changes</a:t>
            </a:r>
            <a:endParaRPr sz="1000" b="0" dirty="0">
              <a:solidFill>
                <a:srgbClr val="444444"/>
              </a:solidFill>
              <a:latin typeface="Arial" panose="020B0604020202020204"/>
            </a:endParaRPr>
          </a:p>
          <a:p>
            <a:pPr algn="l">
              <a:spcBef>
                <a:spcPts val="500"/>
              </a:spcBef>
            </a:pPr>
            <a:r>
              <a:rPr sz="1000" b="1" dirty="0">
                <a:solidFill>
                  <a:srgbClr val="1F497D"/>
                </a:solidFill>
                <a:latin typeface="Arial" panose="020B0604020202020204"/>
              </a:rPr>
              <a:t>Sudden-Noise Handling: </a:t>
            </a:r>
            <a:r>
              <a:rPr sz="1000" b="0" dirty="0">
                <a:solidFill>
                  <a:srgbClr val="444444"/>
                </a:solidFill>
                <a:latin typeface="Arial" panose="020B0604020202020204"/>
              </a:rPr>
              <a:t>fast response without losing speech</a:t>
            </a:r>
            <a:endParaRPr sz="1000" b="0" dirty="0">
              <a:solidFill>
                <a:srgbClr val="444444"/>
              </a:solidFill>
              <a:latin typeface="Arial" panose="020B0604020202020204"/>
            </a:endParaRPr>
          </a:p>
          <a:p>
            <a:pPr algn="l">
              <a:spcBef>
                <a:spcPts val="500"/>
              </a:spcBef>
            </a:pPr>
            <a:r>
              <a:rPr sz="1000" b="1" dirty="0">
                <a:solidFill>
                  <a:srgbClr val="1F497D"/>
                </a:solidFill>
                <a:latin typeface="Arial" panose="020B0604020202020204"/>
              </a:rPr>
              <a:t>No Reference Noise Needed: </a:t>
            </a:r>
            <a:r>
              <a:rPr sz="1000" b="0" dirty="0">
                <a:solidFill>
                  <a:srgbClr val="444444"/>
                </a:solidFill>
                <a:latin typeface="Arial" panose="020B0604020202020204"/>
              </a:rPr>
              <a:t>works from microphone input alone</a:t>
            </a:r>
            <a:endParaRPr sz="1000" b="0" dirty="0">
              <a:solidFill>
                <a:srgbClr val="444444"/>
              </a:solidFill>
              <a:latin typeface="Arial" panose="020B0604020202020204"/>
            </a:endParaRPr>
          </a:p>
          <a:p>
            <a:pPr algn="l">
              <a:spcBef>
                <a:spcPts val="500"/>
              </a:spcBef>
            </a:pPr>
            <a:r>
              <a:rPr sz="1000" b="1" dirty="0">
                <a:solidFill>
                  <a:srgbClr val="1F497D"/>
                </a:solidFill>
                <a:latin typeface="Arial" panose="020B0604020202020204"/>
              </a:rPr>
              <a:t>Edge AI Processing: </a:t>
            </a:r>
            <a:r>
              <a:rPr sz="1000" b="0" dirty="0">
                <a:solidFill>
                  <a:srgbClr val="444444"/>
                </a:solidFill>
                <a:latin typeface="Arial" panose="020B0604020202020204"/>
              </a:rPr>
              <a:t>runs on-device, no internet dependency</a:t>
            </a:r>
            <a:endParaRPr sz="1000" b="0" dirty="0">
              <a:solidFill>
                <a:srgbClr val="444444"/>
              </a:solidFill>
              <a:latin typeface="Arial" panose="020B06040202020202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920" y="3093085"/>
            <a:ext cx="5906770" cy="3655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TECHNICAL APPROACH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tx1"/>
                </a:solidFill>
              </a:rPr>
            </a:fld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1" name="Oval 10" descr="Your startup LOGO"/>
          <p:cNvSpPr/>
          <p:nvPr/>
        </p:nvSpPr>
        <p:spPr>
          <a:xfrm>
            <a:off x="329565" y="252095"/>
            <a:ext cx="1343660" cy="80708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latin typeface="Cambria" panose="02040503050406030204" charset="0"/>
                <a:cs typeface="Cambria" panose="02040503050406030204" charset="0"/>
              </a:rPr>
              <a:t>Phoenix</a:t>
            </a:r>
            <a:endParaRPr lang="en-IN" sz="1600" b="1" dirty="0">
              <a:latin typeface="Cambria" panose="02040503050406030204" charset="0"/>
              <a:cs typeface="Cambria" panose="0204050305040603020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02920" y="1225296"/>
            <a:ext cx="1118585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F497D"/>
                </a:solidFill>
                <a:latin typeface="Arial" panose="020B0604020202020204"/>
              </a:rPr>
              <a:t>1.   TECHNOLOGIES USED</a:t>
            </a:r>
            <a:endParaRPr sz="1600" b="1" i="0">
              <a:solidFill>
                <a:srgbClr val="1F497D"/>
              </a:solidFill>
              <a:latin typeface="Arial" panose="020B0604020202020204"/>
            </a:endParaRPr>
          </a:p>
        </p:txBody>
      </p:sp>
      <p:sp>
        <p:nvSpPr>
          <p:cNvPr id="17411" name="Rounded Rectangle 17410"/>
          <p:cNvSpPr/>
          <p:nvPr/>
        </p:nvSpPr>
        <p:spPr>
          <a:xfrm>
            <a:off x="509270" y="1660525"/>
            <a:ext cx="1939925" cy="439420"/>
          </a:xfrm>
          <a:prstGeom prst="roundRect">
            <a:avLst>
              <a:gd name="adj" fmla="val 7000"/>
            </a:avLst>
          </a:prstGeom>
          <a:solidFill>
            <a:srgbClr val="EAF1FB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 dirty="0">
                <a:solidFill>
                  <a:srgbClr val="1F497D"/>
                </a:solidFill>
                <a:latin typeface="Arial" panose="020B0604020202020204"/>
              </a:rPr>
              <a:t>Python</a:t>
            </a:r>
            <a:endParaRPr sz="1100" b="1" dirty="0">
              <a:solidFill>
                <a:srgbClr val="1F497D"/>
              </a:solidFill>
              <a:latin typeface="Arial" panose="020B0604020202020204"/>
            </a:endParaRPr>
          </a:p>
          <a:p>
            <a:pPr algn="ctr">
              <a:spcBef>
                <a:spcPts val="200"/>
              </a:spcBef>
            </a:pPr>
            <a:r>
              <a:rPr sz="950" b="0" dirty="0">
                <a:solidFill>
                  <a:srgbClr val="444444"/>
                </a:solidFill>
                <a:latin typeface="Arial" panose="020B0604020202020204"/>
              </a:rPr>
              <a:t>Core implementation language</a:t>
            </a:r>
            <a:endParaRPr sz="950" b="0" dirty="0">
              <a:solidFill>
                <a:srgbClr val="444444"/>
              </a:solidFill>
              <a:latin typeface="Arial" panose="020B0604020202020204"/>
            </a:endParaRPr>
          </a:p>
        </p:txBody>
      </p:sp>
      <p:sp>
        <p:nvSpPr>
          <p:cNvPr id="17412" name="Rounded Rectangle 17411"/>
          <p:cNvSpPr/>
          <p:nvPr/>
        </p:nvSpPr>
        <p:spPr>
          <a:xfrm>
            <a:off x="2566035" y="1632585"/>
            <a:ext cx="2174240" cy="465455"/>
          </a:xfrm>
          <a:prstGeom prst="roundRect">
            <a:avLst>
              <a:gd name="adj" fmla="val 7000"/>
            </a:avLst>
          </a:prstGeom>
          <a:solidFill>
            <a:srgbClr val="EAF1FB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1F497D"/>
                </a:solidFill>
                <a:latin typeface="Arial" panose="020B0604020202020204"/>
              </a:rPr>
              <a:t>PyTorch</a:t>
            </a:r>
            <a:endParaRPr sz="1100" b="1">
              <a:solidFill>
                <a:srgbClr val="1F497D"/>
              </a:solidFill>
              <a:latin typeface="Arial" panose="020B0604020202020204"/>
            </a:endParaRP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444444"/>
                </a:solidFill>
                <a:latin typeface="Arial" panose="020B0604020202020204"/>
              </a:rPr>
              <a:t>Model training (laptop)</a:t>
            </a:r>
            <a:endParaRPr sz="950" b="0">
              <a:solidFill>
                <a:srgbClr val="444444"/>
              </a:solidFill>
              <a:latin typeface="Arial" panose="020B0604020202020204"/>
            </a:endParaRPr>
          </a:p>
        </p:txBody>
      </p:sp>
      <p:sp>
        <p:nvSpPr>
          <p:cNvPr id="17413" name="Rounded Rectangle 17412"/>
          <p:cNvSpPr/>
          <p:nvPr/>
        </p:nvSpPr>
        <p:spPr>
          <a:xfrm>
            <a:off x="502920" y="2178050"/>
            <a:ext cx="1959610" cy="546735"/>
          </a:xfrm>
          <a:prstGeom prst="roundRect">
            <a:avLst>
              <a:gd name="adj" fmla="val 7000"/>
            </a:avLst>
          </a:prstGeom>
          <a:solidFill>
            <a:srgbClr val="EAF1FB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1F497D"/>
                </a:solidFill>
                <a:latin typeface="Arial" panose="020B0604020202020204"/>
              </a:rPr>
              <a:t>ONNX Runtime</a:t>
            </a:r>
            <a:endParaRPr sz="1100" b="1">
              <a:solidFill>
                <a:srgbClr val="1F497D"/>
              </a:solidFill>
              <a:latin typeface="Arial" panose="020B0604020202020204"/>
            </a:endParaRP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444444"/>
                </a:solidFill>
                <a:latin typeface="Arial" panose="020B0604020202020204"/>
              </a:rPr>
              <a:t>Lightweight edge inference</a:t>
            </a:r>
            <a:endParaRPr sz="950" b="0">
              <a:solidFill>
                <a:srgbClr val="444444"/>
              </a:solidFill>
              <a:latin typeface="Arial" panose="020B0604020202020204"/>
            </a:endParaRPr>
          </a:p>
        </p:txBody>
      </p:sp>
      <p:sp>
        <p:nvSpPr>
          <p:cNvPr id="17414" name="Rounded Rectangle 17413"/>
          <p:cNvSpPr/>
          <p:nvPr/>
        </p:nvSpPr>
        <p:spPr>
          <a:xfrm>
            <a:off x="2565400" y="2178050"/>
            <a:ext cx="2178685" cy="530225"/>
          </a:xfrm>
          <a:prstGeom prst="roundRect">
            <a:avLst>
              <a:gd name="adj" fmla="val 7000"/>
            </a:avLst>
          </a:prstGeom>
          <a:solidFill>
            <a:srgbClr val="EAF1FB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 dirty="0">
                <a:solidFill>
                  <a:srgbClr val="1F497D"/>
                </a:solidFill>
                <a:latin typeface="Arial" panose="020B0604020202020204"/>
              </a:rPr>
              <a:t>NumPy &amp; SciPy</a:t>
            </a:r>
            <a:endParaRPr sz="1100" b="1" dirty="0">
              <a:solidFill>
                <a:srgbClr val="1F497D"/>
              </a:solidFill>
              <a:latin typeface="Arial" panose="020B0604020202020204"/>
            </a:endParaRPr>
          </a:p>
          <a:p>
            <a:pPr algn="ctr">
              <a:spcBef>
                <a:spcPts val="200"/>
              </a:spcBef>
            </a:pPr>
            <a:r>
              <a:rPr sz="950" b="0" dirty="0">
                <a:solidFill>
                  <a:srgbClr val="444444"/>
                </a:solidFill>
                <a:latin typeface="Arial" panose="020B0604020202020204"/>
              </a:rPr>
              <a:t>STFT / signal processing</a:t>
            </a:r>
            <a:endParaRPr sz="950" b="0" dirty="0">
              <a:solidFill>
                <a:srgbClr val="444444"/>
              </a:solidFill>
              <a:latin typeface="Arial" panose="020B0604020202020204"/>
            </a:endParaRPr>
          </a:p>
        </p:txBody>
      </p:sp>
      <p:sp>
        <p:nvSpPr>
          <p:cNvPr id="17415" name="Rounded Rectangle 17414"/>
          <p:cNvSpPr/>
          <p:nvPr/>
        </p:nvSpPr>
        <p:spPr>
          <a:xfrm>
            <a:off x="509270" y="2788920"/>
            <a:ext cx="1944370" cy="610870"/>
          </a:xfrm>
          <a:prstGeom prst="roundRect">
            <a:avLst>
              <a:gd name="adj" fmla="val 7000"/>
            </a:avLst>
          </a:prstGeom>
          <a:solidFill>
            <a:srgbClr val="EAF1FB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 dirty="0">
                <a:solidFill>
                  <a:srgbClr val="1F497D"/>
                </a:solidFill>
                <a:latin typeface="Arial" panose="020B0604020202020204"/>
              </a:rPr>
              <a:t>GRU Neural Network</a:t>
            </a:r>
            <a:r>
              <a:rPr lang="en-IN" sz="1100" b="1" dirty="0">
                <a:solidFill>
                  <a:srgbClr val="1F497D"/>
                </a:solidFill>
                <a:latin typeface="Arial" panose="020B0604020202020204"/>
              </a:rPr>
              <a:t> [1][2]</a:t>
            </a:r>
            <a:endParaRPr sz="1100" b="1" dirty="0">
              <a:solidFill>
                <a:srgbClr val="1F497D"/>
              </a:solidFill>
              <a:latin typeface="Arial" panose="020B0604020202020204"/>
            </a:endParaRPr>
          </a:p>
          <a:p>
            <a:pPr algn="ctr">
              <a:spcBef>
                <a:spcPts val="200"/>
              </a:spcBef>
            </a:pPr>
            <a:r>
              <a:rPr sz="950" b="0" dirty="0">
                <a:solidFill>
                  <a:srgbClr val="444444"/>
                </a:solidFill>
                <a:latin typeface="Arial" panose="020B0604020202020204"/>
              </a:rPr>
              <a:t>Real-time noise-mask model</a:t>
            </a:r>
            <a:endParaRPr sz="950" b="0" dirty="0">
              <a:solidFill>
                <a:srgbClr val="444444"/>
              </a:solidFill>
              <a:latin typeface="Arial" panose="020B0604020202020204"/>
            </a:endParaRPr>
          </a:p>
        </p:txBody>
      </p:sp>
      <p:sp>
        <p:nvSpPr>
          <p:cNvPr id="17416" name="Rounded Rectangle 17415"/>
          <p:cNvSpPr/>
          <p:nvPr/>
        </p:nvSpPr>
        <p:spPr>
          <a:xfrm>
            <a:off x="2565400" y="2807335"/>
            <a:ext cx="2196465" cy="582930"/>
          </a:xfrm>
          <a:prstGeom prst="roundRect">
            <a:avLst>
              <a:gd name="adj" fmla="val 7000"/>
            </a:avLst>
          </a:prstGeom>
          <a:solidFill>
            <a:srgbClr val="EAF1FB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1F497D"/>
                </a:solidFill>
                <a:latin typeface="Arial" panose="020B0604020202020204"/>
              </a:rPr>
              <a:t>Raspberry Pi 4/5 (ARM64)</a:t>
            </a:r>
            <a:endParaRPr sz="1100" b="1">
              <a:solidFill>
                <a:srgbClr val="1F497D"/>
              </a:solidFill>
              <a:latin typeface="Arial" panose="020B0604020202020204"/>
            </a:endParaRP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444444"/>
                </a:solidFill>
                <a:latin typeface="Arial" panose="020B0604020202020204"/>
              </a:rPr>
              <a:t>Embedded deployment target</a:t>
            </a:r>
            <a:endParaRPr sz="950" b="0">
              <a:solidFill>
                <a:srgbClr val="444444"/>
              </a:solidFill>
              <a:latin typeface="Arial" panose="020B0604020202020204"/>
            </a:endParaRPr>
          </a:p>
        </p:txBody>
      </p:sp>
      <p:sp>
        <p:nvSpPr>
          <p:cNvPr id="17417" name="TextBox 17416"/>
          <p:cNvSpPr txBox="1"/>
          <p:nvPr/>
        </p:nvSpPr>
        <p:spPr>
          <a:xfrm>
            <a:off x="502919" y="3738090"/>
            <a:ext cx="1118585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1F497D"/>
                </a:solidFill>
                <a:latin typeface="Arial" panose="020B0604020202020204"/>
              </a:rPr>
              <a:t>2.   METHODOLOGY</a:t>
            </a:r>
            <a:endParaRPr sz="1600" b="1" i="0" dirty="0">
              <a:solidFill>
                <a:srgbClr val="1F497D"/>
              </a:solidFill>
              <a:latin typeface="Arial" panose="020B0604020202020204"/>
            </a:endParaRPr>
          </a:p>
        </p:txBody>
      </p:sp>
      <p:sp>
        <p:nvSpPr>
          <p:cNvPr id="17426" name="TextBox 17425"/>
          <p:cNvSpPr txBox="1"/>
          <p:nvPr/>
        </p:nvSpPr>
        <p:spPr>
          <a:xfrm>
            <a:off x="740410" y="4182093"/>
            <a:ext cx="11185855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1">
                <a:solidFill>
                  <a:srgbClr val="0070C0"/>
                </a:solidFill>
                <a:latin typeface="Arial" panose="020B0604020202020204"/>
              </a:rPr>
              <a:t>Real-Time Processing Pipeline (Raspberry Pi)</a:t>
            </a:r>
            <a:endParaRPr sz="1150" b="1" i="1">
              <a:solidFill>
                <a:srgbClr val="0070C0"/>
              </a:solidFill>
              <a:latin typeface="Arial" panose="020B0604020202020204"/>
            </a:endParaRPr>
          </a:p>
        </p:txBody>
      </p:sp>
      <p:sp>
        <p:nvSpPr>
          <p:cNvPr id="17427" name="Rounded Rectangle 17426"/>
          <p:cNvSpPr/>
          <p:nvPr/>
        </p:nvSpPr>
        <p:spPr>
          <a:xfrm>
            <a:off x="675005" y="4643484"/>
            <a:ext cx="1696669" cy="822960"/>
          </a:xfrm>
          <a:prstGeom prst="roundRect">
            <a:avLst>
              <a:gd name="adj" fmla="val 7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 dirty="0">
                <a:solidFill>
                  <a:srgbClr val="FFFFFF"/>
                </a:solidFill>
                <a:latin typeface="Arial" panose="020B0604020202020204"/>
              </a:rPr>
              <a:t>Microphone</a:t>
            </a:r>
            <a:endParaRPr sz="1050" b="1" dirty="0">
              <a:solidFill>
                <a:srgbClr val="FFFFFF"/>
              </a:solidFill>
              <a:latin typeface="Arial" panose="020B0604020202020204"/>
            </a:endParaRPr>
          </a:p>
          <a:p>
            <a:pPr algn="ctr">
              <a:spcBef>
                <a:spcPts val="200"/>
              </a:spcBef>
            </a:pPr>
            <a:r>
              <a:rPr sz="850" b="0" dirty="0">
                <a:solidFill>
                  <a:srgbClr val="E4EEFB"/>
                </a:solidFill>
                <a:latin typeface="Arial" panose="020B0604020202020204"/>
              </a:rPr>
              <a:t>Input</a:t>
            </a:r>
            <a:endParaRPr sz="850" b="0" dirty="0">
              <a:solidFill>
                <a:srgbClr val="E4EEFB"/>
              </a:solidFill>
              <a:latin typeface="Arial" panose="020B0604020202020204"/>
            </a:endParaRPr>
          </a:p>
        </p:txBody>
      </p:sp>
      <p:sp>
        <p:nvSpPr>
          <p:cNvPr id="17428" name="Right Arrow 17427"/>
          <p:cNvSpPr/>
          <p:nvPr/>
        </p:nvSpPr>
        <p:spPr>
          <a:xfrm>
            <a:off x="2371674" y="4963524"/>
            <a:ext cx="201168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Rounded Rectangle 17428"/>
          <p:cNvSpPr/>
          <p:nvPr/>
        </p:nvSpPr>
        <p:spPr>
          <a:xfrm>
            <a:off x="2572842" y="4643484"/>
            <a:ext cx="1696669" cy="822960"/>
          </a:xfrm>
          <a:prstGeom prst="roundRect">
            <a:avLst>
              <a:gd name="adj" fmla="val 7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 panose="020B0604020202020204"/>
              </a:rPr>
              <a:t>STFT</a:t>
            </a:r>
            <a:endParaRPr sz="1050" b="1">
              <a:solidFill>
                <a:srgbClr val="FFFFFF"/>
              </a:solidFill>
              <a:latin typeface="Arial" panose="020B0604020202020204"/>
            </a:endParaRPr>
          </a:p>
          <a:p>
            <a:pPr algn="ctr">
              <a:spcBef>
                <a:spcPts val="200"/>
              </a:spcBef>
            </a:pPr>
            <a:r>
              <a:rPr sz="850" b="0">
                <a:solidFill>
                  <a:srgbClr val="E4EEFB"/>
                </a:solidFill>
                <a:latin typeface="Arial" panose="020B0604020202020204"/>
              </a:rPr>
              <a:t>Framing</a:t>
            </a:r>
            <a:endParaRPr sz="850" b="0">
              <a:solidFill>
                <a:srgbClr val="E4EEFB"/>
              </a:solidFill>
              <a:latin typeface="Arial" panose="020B0604020202020204"/>
            </a:endParaRPr>
          </a:p>
        </p:txBody>
      </p:sp>
      <p:sp>
        <p:nvSpPr>
          <p:cNvPr id="17430" name="Right Arrow 17429"/>
          <p:cNvSpPr/>
          <p:nvPr/>
        </p:nvSpPr>
        <p:spPr>
          <a:xfrm>
            <a:off x="4269511" y="4963524"/>
            <a:ext cx="201168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1" name="Rounded Rectangle 17430"/>
          <p:cNvSpPr/>
          <p:nvPr/>
        </p:nvSpPr>
        <p:spPr>
          <a:xfrm>
            <a:off x="4470679" y="4643484"/>
            <a:ext cx="1696669" cy="822960"/>
          </a:xfrm>
          <a:prstGeom prst="roundRect">
            <a:avLst>
              <a:gd name="adj" fmla="val 7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 panose="020B0604020202020204"/>
              </a:rPr>
              <a:t>Neural Mask</a:t>
            </a:r>
            <a:endParaRPr sz="1050" b="1">
              <a:solidFill>
                <a:srgbClr val="FFFFFF"/>
              </a:solidFill>
              <a:latin typeface="Arial" panose="020B0604020202020204"/>
            </a:endParaRPr>
          </a:p>
          <a:p>
            <a:pPr algn="ctr">
              <a:spcBef>
                <a:spcPts val="200"/>
              </a:spcBef>
            </a:pPr>
            <a:r>
              <a:rPr sz="850" b="0">
                <a:solidFill>
                  <a:srgbClr val="E4EEFB"/>
                </a:solidFill>
                <a:latin typeface="Arial" panose="020B0604020202020204"/>
              </a:rPr>
              <a:t>Prediction</a:t>
            </a:r>
            <a:endParaRPr sz="850" b="0">
              <a:solidFill>
                <a:srgbClr val="E4EEFB"/>
              </a:solidFill>
              <a:latin typeface="Arial" panose="020B0604020202020204"/>
            </a:endParaRPr>
          </a:p>
        </p:txBody>
      </p:sp>
      <p:sp>
        <p:nvSpPr>
          <p:cNvPr id="17432" name="Right Arrow 17431"/>
          <p:cNvSpPr/>
          <p:nvPr/>
        </p:nvSpPr>
        <p:spPr>
          <a:xfrm>
            <a:off x="6167348" y="4963524"/>
            <a:ext cx="201168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3" name="Rounded Rectangle 17432"/>
          <p:cNvSpPr/>
          <p:nvPr/>
        </p:nvSpPr>
        <p:spPr>
          <a:xfrm>
            <a:off x="6368516" y="4643484"/>
            <a:ext cx="1696669" cy="822960"/>
          </a:xfrm>
          <a:prstGeom prst="roundRect">
            <a:avLst>
              <a:gd name="adj" fmla="val 7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 panose="020B0604020202020204"/>
              </a:rPr>
              <a:t>Apply Mask to</a:t>
            </a:r>
            <a:endParaRPr sz="1050" b="1">
              <a:solidFill>
                <a:srgbClr val="FFFFFF"/>
              </a:solidFill>
              <a:latin typeface="Arial" panose="020B0604020202020204"/>
            </a:endParaRPr>
          </a:p>
          <a:p>
            <a:pPr algn="ctr">
              <a:spcBef>
                <a:spcPts val="200"/>
              </a:spcBef>
            </a:pPr>
            <a:r>
              <a:rPr sz="850" b="0">
                <a:solidFill>
                  <a:srgbClr val="E4EEFB"/>
                </a:solidFill>
                <a:latin typeface="Arial" panose="020B0604020202020204"/>
              </a:rPr>
              <a:t>Spectrum</a:t>
            </a:r>
            <a:endParaRPr sz="850" b="0">
              <a:solidFill>
                <a:srgbClr val="E4EEFB"/>
              </a:solidFill>
              <a:latin typeface="Arial" panose="020B0604020202020204"/>
            </a:endParaRPr>
          </a:p>
        </p:txBody>
      </p:sp>
      <p:sp>
        <p:nvSpPr>
          <p:cNvPr id="17434" name="Right Arrow 17433"/>
          <p:cNvSpPr/>
          <p:nvPr/>
        </p:nvSpPr>
        <p:spPr>
          <a:xfrm>
            <a:off x="8065185" y="4963524"/>
            <a:ext cx="201168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5" name="Rounded Rectangle 17434"/>
          <p:cNvSpPr/>
          <p:nvPr/>
        </p:nvSpPr>
        <p:spPr>
          <a:xfrm>
            <a:off x="8266353" y="4643484"/>
            <a:ext cx="1696669" cy="822960"/>
          </a:xfrm>
          <a:prstGeom prst="roundRect">
            <a:avLst>
              <a:gd name="adj" fmla="val 7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 panose="020B0604020202020204"/>
              </a:rPr>
              <a:t>Overlap-Add</a:t>
            </a:r>
            <a:endParaRPr sz="1050" b="1">
              <a:solidFill>
                <a:srgbClr val="FFFFFF"/>
              </a:solidFill>
              <a:latin typeface="Arial" panose="020B0604020202020204"/>
            </a:endParaRPr>
          </a:p>
          <a:p>
            <a:pPr algn="ctr">
              <a:spcBef>
                <a:spcPts val="200"/>
              </a:spcBef>
            </a:pPr>
            <a:r>
              <a:rPr sz="850" b="0">
                <a:solidFill>
                  <a:srgbClr val="E4EEFB"/>
                </a:solidFill>
                <a:latin typeface="Arial" panose="020B0604020202020204"/>
              </a:rPr>
              <a:t>Reconstruction</a:t>
            </a:r>
            <a:endParaRPr sz="850" b="0">
              <a:solidFill>
                <a:srgbClr val="E4EEFB"/>
              </a:solidFill>
              <a:latin typeface="Arial" panose="020B0604020202020204"/>
            </a:endParaRPr>
          </a:p>
        </p:txBody>
      </p:sp>
      <p:sp>
        <p:nvSpPr>
          <p:cNvPr id="17436" name="Right Arrow 17435"/>
          <p:cNvSpPr/>
          <p:nvPr/>
        </p:nvSpPr>
        <p:spPr>
          <a:xfrm>
            <a:off x="9963023" y="4963524"/>
            <a:ext cx="201168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7" name="Rounded Rectangle 17436"/>
          <p:cNvSpPr/>
          <p:nvPr/>
        </p:nvSpPr>
        <p:spPr>
          <a:xfrm>
            <a:off x="10164191" y="4643484"/>
            <a:ext cx="1696669" cy="822960"/>
          </a:xfrm>
          <a:prstGeom prst="roundRect">
            <a:avLst>
              <a:gd name="adj" fmla="val 7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 panose="020B0604020202020204"/>
              </a:rPr>
              <a:t>Enhanced Audio</a:t>
            </a:r>
            <a:endParaRPr sz="1050" b="1">
              <a:solidFill>
                <a:srgbClr val="FFFFFF"/>
              </a:solidFill>
              <a:latin typeface="Arial" panose="020B0604020202020204"/>
            </a:endParaRPr>
          </a:p>
          <a:p>
            <a:pPr algn="ctr">
              <a:spcBef>
                <a:spcPts val="200"/>
              </a:spcBef>
            </a:pPr>
            <a:r>
              <a:rPr sz="850" b="0">
                <a:solidFill>
                  <a:srgbClr val="E4EEFB"/>
                </a:solidFill>
                <a:latin typeface="Arial" panose="020B0604020202020204"/>
              </a:rPr>
              <a:t>Output</a:t>
            </a:r>
            <a:endParaRPr sz="850" b="0">
              <a:solidFill>
                <a:srgbClr val="E4EEFB"/>
              </a:solidFill>
              <a:latin typeface="Arial" panose="020B0604020202020204"/>
            </a:endParaRPr>
          </a:p>
        </p:txBody>
      </p:sp>
      <p:sp>
        <p:nvSpPr>
          <p:cNvPr id="17438" name="TextBox 17437"/>
          <p:cNvSpPr txBox="1"/>
          <p:nvPr/>
        </p:nvSpPr>
        <p:spPr>
          <a:xfrm>
            <a:off x="609600" y="6036313"/>
            <a:ext cx="1118585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i="1" dirty="0">
                <a:solidFill>
                  <a:srgbClr val="1F497D"/>
                </a:solidFill>
                <a:latin typeface="Arial" panose="020B0604020202020204"/>
              </a:rPr>
              <a:t>Result:   Noisy Speech  →  Real-Time Adaptive Noise Suppression  →  Clear, Intelligible Speech</a:t>
            </a:r>
            <a:endParaRPr b="1" i="1" dirty="0">
              <a:solidFill>
                <a:srgbClr val="1F497D"/>
              </a:solidFill>
              <a:latin typeface="Arial" panose="020B0604020202020204"/>
            </a:endParaRPr>
          </a:p>
        </p:txBody>
      </p:sp>
      <p:pic>
        <p:nvPicPr>
          <p:cNvPr id="17440" name="Hardware 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115" y="1095375"/>
            <a:ext cx="7264400" cy="31673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FEASIBILITY AND VIABILITY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2" name="Oval 11" descr="Your startup LOGO"/>
          <p:cNvSpPr/>
          <p:nvPr/>
        </p:nvSpPr>
        <p:spPr>
          <a:xfrm>
            <a:off x="245745" y="252095"/>
            <a:ext cx="1391920" cy="80708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Cambria" panose="02040503050406030204" charset="0"/>
                <a:cs typeface="Cambria" panose="02040503050406030204" charset="0"/>
              </a:rPr>
              <a:t>Phoenix</a:t>
            </a:r>
            <a:endParaRPr lang="en-IN" sz="1600" b="1" dirty="0">
              <a:latin typeface="Cambria" panose="02040503050406030204" charset="0"/>
              <a:cs typeface="Cambria" panose="0204050305040603020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8" name="Rounded Rectangle 5"/>
          <p:cNvSpPr/>
          <p:nvPr/>
        </p:nvSpPr>
        <p:spPr>
          <a:xfrm>
            <a:off x="609600" y="1636776"/>
            <a:ext cx="2487168" cy="1024128"/>
          </a:xfrm>
          <a:prstGeom prst="roundRect">
            <a:avLst/>
          </a:prstGeom>
          <a:solidFill>
            <a:srgbClr val="E8F2F9"/>
          </a:solidFill>
          <a:ln w="12700"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9328" y="1709928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0" dirty="0">
                <a:solidFill>
                  <a:srgbClr val="12375C"/>
                </a:solidFill>
                <a:latin typeface="Aptos"/>
              </a:rPr>
              <a:t>🧠</a:t>
            </a:r>
            <a:endParaRPr sz="2200" b="0" dirty="0">
              <a:solidFill>
                <a:srgbClr val="12375C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97582" y="1789437"/>
            <a:ext cx="1773936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1" dirty="0">
                <a:solidFill>
                  <a:srgbClr val="232A30"/>
                </a:solidFill>
                <a:latin typeface="Aptos"/>
              </a:rPr>
              <a:t>Lightweight AI</a:t>
            </a:r>
            <a:endParaRPr sz="1250" b="1" dirty="0">
              <a:solidFill>
                <a:srgbClr val="232A30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46760" y="2071116"/>
            <a:ext cx="1773936" cy="5852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 dirty="0">
                <a:solidFill>
                  <a:srgbClr val="5A646E"/>
                </a:solidFill>
                <a:latin typeface="Aptos"/>
              </a:rPr>
              <a:t>GRU + STFT for edge-ready enhancement</a:t>
            </a:r>
            <a:endParaRPr sz="1000" b="0" dirty="0">
              <a:solidFill>
                <a:srgbClr val="5A646E"/>
              </a:solidFill>
              <a:latin typeface="Aptos"/>
            </a:endParaRPr>
          </a:p>
        </p:txBody>
      </p:sp>
      <p:sp>
        <p:nvSpPr>
          <p:cNvPr id="19" name="Rounded Rectangle 9"/>
          <p:cNvSpPr/>
          <p:nvPr/>
        </p:nvSpPr>
        <p:spPr>
          <a:xfrm>
            <a:off x="3261360" y="1636776"/>
            <a:ext cx="2487168" cy="1024128"/>
          </a:xfrm>
          <a:prstGeom prst="roundRect">
            <a:avLst/>
          </a:prstGeom>
          <a:solidFill>
            <a:srgbClr val="E8F2F9"/>
          </a:solidFill>
          <a:ln w="12700"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71088" y="1709928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0" dirty="0">
                <a:solidFill>
                  <a:srgbClr val="12375C"/>
                </a:solidFill>
                <a:latin typeface="Aptos"/>
              </a:rPr>
              <a:t>⚡</a:t>
            </a:r>
            <a:endParaRPr sz="2200" b="0" dirty="0">
              <a:solidFill>
                <a:srgbClr val="12375C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735225" y="1789437"/>
            <a:ext cx="1773936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1" dirty="0">
                <a:solidFill>
                  <a:srgbClr val="232A30"/>
                </a:solidFill>
                <a:latin typeface="Aptos"/>
              </a:rPr>
              <a:t>Edge Processing</a:t>
            </a:r>
            <a:endParaRPr sz="1250" b="1" dirty="0">
              <a:solidFill>
                <a:srgbClr val="232A30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567487" y="2029968"/>
            <a:ext cx="1773936" cy="5852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 dirty="0">
                <a:solidFill>
                  <a:srgbClr val="5A646E"/>
                </a:solidFill>
                <a:latin typeface="Aptos"/>
              </a:rPr>
              <a:t>ONNX Runtime + Raspberry Pi 4/5</a:t>
            </a:r>
            <a:endParaRPr sz="1000" b="0" dirty="0">
              <a:solidFill>
                <a:srgbClr val="5A646E"/>
              </a:solidFill>
              <a:latin typeface="Aptos"/>
            </a:endParaRPr>
          </a:p>
        </p:txBody>
      </p:sp>
      <p:sp>
        <p:nvSpPr>
          <p:cNvPr id="27" name="Rounded Rectangle 13"/>
          <p:cNvSpPr/>
          <p:nvPr/>
        </p:nvSpPr>
        <p:spPr>
          <a:xfrm>
            <a:off x="609600" y="2807208"/>
            <a:ext cx="2487168" cy="1024128"/>
          </a:xfrm>
          <a:prstGeom prst="roundRect">
            <a:avLst/>
          </a:prstGeom>
          <a:solidFill>
            <a:srgbClr val="E8F2F9"/>
          </a:solidFill>
          <a:ln w="12700"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9328" y="2880360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0">
                <a:solidFill>
                  <a:srgbClr val="12375C"/>
                </a:solidFill>
                <a:latin typeface="Aptos"/>
              </a:rPr>
              <a:t>📊</a:t>
            </a:r>
            <a:endParaRPr sz="2200" b="0">
              <a:solidFill>
                <a:srgbClr val="12375C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180425" y="2955075"/>
            <a:ext cx="1758558" cy="28469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1" dirty="0">
                <a:solidFill>
                  <a:srgbClr val="232A30"/>
                </a:solidFill>
                <a:latin typeface="Aptos"/>
              </a:rPr>
              <a:t>Accessible Data</a:t>
            </a:r>
            <a:r>
              <a:rPr lang="en-IN" sz="1250" b="1" dirty="0">
                <a:solidFill>
                  <a:srgbClr val="232A30"/>
                </a:solidFill>
                <a:latin typeface="Aptos"/>
              </a:rPr>
              <a:t>[3][4]</a:t>
            </a:r>
            <a:endParaRPr sz="1250" b="1" dirty="0">
              <a:solidFill>
                <a:srgbClr val="232A30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02792" y="3228225"/>
            <a:ext cx="1773936" cy="5852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 dirty="0">
                <a:solidFill>
                  <a:srgbClr val="5A646E"/>
                </a:solidFill>
                <a:latin typeface="Aptos"/>
              </a:rPr>
              <a:t>Public speech + synthetic noise</a:t>
            </a:r>
            <a:endParaRPr sz="1000" b="0" dirty="0">
              <a:solidFill>
                <a:srgbClr val="5A646E"/>
              </a:solidFill>
              <a:latin typeface="Aptos"/>
            </a:endParaRPr>
          </a:p>
        </p:txBody>
      </p:sp>
      <p:sp>
        <p:nvSpPr>
          <p:cNvPr id="35" name="Rounded Rectangle 17"/>
          <p:cNvSpPr/>
          <p:nvPr/>
        </p:nvSpPr>
        <p:spPr>
          <a:xfrm>
            <a:off x="3261360" y="2807208"/>
            <a:ext cx="2487168" cy="1024128"/>
          </a:xfrm>
          <a:prstGeom prst="roundRect">
            <a:avLst/>
          </a:prstGeom>
          <a:solidFill>
            <a:srgbClr val="E8F2F9"/>
          </a:solidFill>
          <a:ln w="12700"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71088" y="2880360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0">
                <a:solidFill>
                  <a:srgbClr val="12375C"/>
                </a:solidFill>
                <a:latin typeface="Aptos"/>
              </a:rPr>
              <a:t>⏱</a:t>
            </a:r>
            <a:endParaRPr sz="2200" b="0">
              <a:solidFill>
                <a:srgbClr val="12375C"/>
              </a:solidFill>
              <a:latin typeface="Apto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758184" y="2977765"/>
            <a:ext cx="1773936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1" dirty="0">
                <a:solidFill>
                  <a:srgbClr val="232A30"/>
                </a:solidFill>
                <a:latin typeface="Aptos"/>
              </a:rPr>
              <a:t>Real-Time Pipeline</a:t>
            </a:r>
            <a:endParaRPr sz="1250" b="1" dirty="0">
              <a:solidFill>
                <a:srgbClr val="232A30"/>
              </a:solidFill>
              <a:latin typeface="Apto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567487" y="3228225"/>
            <a:ext cx="1773936" cy="5852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 dirty="0">
                <a:solidFill>
                  <a:srgbClr val="5A646E"/>
                </a:solidFill>
                <a:latin typeface="Aptos"/>
              </a:rPr>
              <a:t>Streaming STFT → mask → output</a:t>
            </a:r>
            <a:endParaRPr sz="1000" b="0" dirty="0">
              <a:solidFill>
                <a:srgbClr val="5A646E"/>
              </a:solidFill>
              <a:latin typeface="Apto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54140" y="1157793"/>
            <a:ext cx="1435842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 dirty="0">
                <a:solidFill>
                  <a:srgbClr val="12375C"/>
                </a:solidFill>
                <a:latin typeface="Aptos"/>
              </a:rPr>
              <a:t>FEASIBILITY</a:t>
            </a:r>
            <a:endParaRPr sz="1800" b="1" dirty="0">
              <a:solidFill>
                <a:srgbClr val="12375C"/>
              </a:solidFill>
              <a:latin typeface="Aptos"/>
            </a:endParaRPr>
          </a:p>
        </p:txBody>
      </p:sp>
      <p:sp>
        <p:nvSpPr>
          <p:cNvPr id="45" name="Rounded Rectangle 21"/>
          <p:cNvSpPr/>
          <p:nvPr/>
        </p:nvSpPr>
        <p:spPr>
          <a:xfrm>
            <a:off x="6386985" y="1636776"/>
            <a:ext cx="2487168" cy="1024128"/>
          </a:xfrm>
          <a:prstGeom prst="roundRect">
            <a:avLst/>
          </a:prstGeom>
          <a:solidFill>
            <a:srgbClr val="E8F6ED"/>
          </a:solidFill>
          <a:ln w="12700"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96713" y="1709928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0">
                <a:solidFill>
                  <a:srgbClr val="12375C"/>
                </a:solidFill>
                <a:latin typeface="Aptos"/>
              </a:rPr>
              <a:t>💰</a:t>
            </a:r>
            <a:endParaRPr sz="2200" b="0">
              <a:solidFill>
                <a:srgbClr val="12375C"/>
              </a:solidFill>
              <a:latin typeface="Apto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937591" y="1798649"/>
            <a:ext cx="1773936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1" dirty="0">
                <a:solidFill>
                  <a:srgbClr val="378C5B"/>
                </a:solidFill>
                <a:latin typeface="Aptos"/>
              </a:rPr>
              <a:t>Cost Effective</a:t>
            </a:r>
            <a:endParaRPr sz="1250" b="1" dirty="0">
              <a:solidFill>
                <a:srgbClr val="378C5B"/>
              </a:solidFill>
              <a:latin typeface="Apto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386985" y="2029968"/>
            <a:ext cx="1773936" cy="5852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 dirty="0">
                <a:solidFill>
                  <a:srgbClr val="5A646E"/>
                </a:solidFill>
                <a:latin typeface="Aptos"/>
              </a:rPr>
              <a:t>Low-cost, commercially available hardware</a:t>
            </a:r>
            <a:endParaRPr sz="1000" b="0" dirty="0">
              <a:solidFill>
                <a:srgbClr val="5A646E"/>
              </a:solidFill>
              <a:latin typeface="Aptos"/>
            </a:endParaRPr>
          </a:p>
        </p:txBody>
      </p:sp>
      <p:sp>
        <p:nvSpPr>
          <p:cNvPr id="53" name="Rounded Rectangle 25"/>
          <p:cNvSpPr/>
          <p:nvPr/>
        </p:nvSpPr>
        <p:spPr>
          <a:xfrm>
            <a:off x="9038745" y="1636776"/>
            <a:ext cx="2487168" cy="1024128"/>
          </a:xfrm>
          <a:prstGeom prst="roundRect">
            <a:avLst/>
          </a:prstGeom>
          <a:solidFill>
            <a:srgbClr val="E8F6ED"/>
          </a:solidFill>
          <a:ln w="12700"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48472" y="1709928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0">
                <a:solidFill>
                  <a:srgbClr val="12375C"/>
                </a:solidFill>
                <a:latin typeface="Aptos"/>
              </a:rPr>
              <a:t>🔒</a:t>
            </a:r>
            <a:endParaRPr sz="2200" b="0">
              <a:solidFill>
                <a:srgbClr val="12375C"/>
              </a:solidFill>
              <a:latin typeface="Aptos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587384" y="1789437"/>
            <a:ext cx="1773936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1" dirty="0">
                <a:solidFill>
                  <a:srgbClr val="378C5B"/>
                </a:solidFill>
                <a:latin typeface="Aptos"/>
              </a:rPr>
              <a:t>Offline Operation</a:t>
            </a:r>
            <a:endParaRPr sz="1250" b="1" dirty="0">
              <a:solidFill>
                <a:srgbClr val="378C5B"/>
              </a:solidFill>
              <a:latin typeface="Aptos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9148472" y="2039800"/>
            <a:ext cx="1773936" cy="5852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5A646E"/>
                </a:solidFill>
                <a:latin typeface="Aptos"/>
              </a:rPr>
              <a:t>Local inference; no cloud dependency</a:t>
            </a:r>
            <a:endParaRPr sz="1000" b="0">
              <a:solidFill>
                <a:srgbClr val="5A646E"/>
              </a:solidFill>
              <a:latin typeface="Aptos"/>
            </a:endParaRPr>
          </a:p>
        </p:txBody>
      </p:sp>
      <p:sp>
        <p:nvSpPr>
          <p:cNvPr id="61" name="Rounded Rectangle 29"/>
          <p:cNvSpPr/>
          <p:nvPr/>
        </p:nvSpPr>
        <p:spPr>
          <a:xfrm>
            <a:off x="6386985" y="2807208"/>
            <a:ext cx="2487168" cy="1024128"/>
          </a:xfrm>
          <a:prstGeom prst="roundRect">
            <a:avLst/>
          </a:prstGeom>
          <a:solidFill>
            <a:srgbClr val="E8F6ED"/>
          </a:solidFill>
          <a:ln w="12700"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3" name="TextBox 62"/>
          <p:cNvSpPr txBox="1"/>
          <p:nvPr/>
        </p:nvSpPr>
        <p:spPr>
          <a:xfrm>
            <a:off x="6496713" y="2880360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0">
                <a:solidFill>
                  <a:srgbClr val="12375C"/>
                </a:solidFill>
                <a:latin typeface="Aptos"/>
              </a:rPr>
              <a:t>📈</a:t>
            </a:r>
            <a:endParaRPr sz="2200" b="0">
              <a:solidFill>
                <a:srgbClr val="12375C"/>
              </a:solidFill>
              <a:latin typeface="Aptos"/>
            </a:endParaRPr>
          </a:p>
        </p:txBody>
      </p:sp>
      <p:sp>
        <p:nvSpPr>
          <p:cNvPr id="17411" name="TextBox 17410"/>
          <p:cNvSpPr txBox="1"/>
          <p:nvPr/>
        </p:nvSpPr>
        <p:spPr>
          <a:xfrm>
            <a:off x="6949341" y="2931868"/>
            <a:ext cx="1773936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1" dirty="0">
                <a:solidFill>
                  <a:srgbClr val="378C5B"/>
                </a:solidFill>
                <a:latin typeface="Aptos"/>
              </a:rPr>
              <a:t>Scalable</a:t>
            </a:r>
            <a:endParaRPr sz="1250" b="1" dirty="0">
              <a:solidFill>
                <a:srgbClr val="378C5B"/>
              </a:solidFill>
              <a:latin typeface="Aptos"/>
            </a:endParaRPr>
          </a:p>
        </p:txBody>
      </p:sp>
      <p:sp>
        <p:nvSpPr>
          <p:cNvPr id="17413" name="TextBox 17412"/>
          <p:cNvSpPr txBox="1"/>
          <p:nvPr/>
        </p:nvSpPr>
        <p:spPr>
          <a:xfrm>
            <a:off x="6490619" y="3282359"/>
            <a:ext cx="2487168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dirty="0">
                <a:solidFill>
                  <a:srgbClr val="5A646E"/>
                </a:solidFill>
                <a:latin typeface="Aptos"/>
              </a:rPr>
              <a:t>Prototype → advanced</a:t>
            </a:r>
            <a:r>
              <a:rPr lang="en-US" sz="1000" b="0" dirty="0">
                <a:solidFill>
                  <a:srgbClr val="5A646E"/>
                </a:solidFill>
                <a:latin typeface="Aptos"/>
              </a:rPr>
              <a:t> </a:t>
            </a:r>
            <a:r>
              <a:rPr sz="1000" b="0" dirty="0">
                <a:solidFill>
                  <a:srgbClr val="5A646E"/>
                </a:solidFill>
                <a:latin typeface="Aptos"/>
              </a:rPr>
              <a:t>communication systems</a:t>
            </a:r>
            <a:endParaRPr sz="1000" b="0" dirty="0">
              <a:solidFill>
                <a:srgbClr val="5A646E"/>
              </a:solidFill>
              <a:latin typeface="Aptos"/>
            </a:endParaRPr>
          </a:p>
        </p:txBody>
      </p:sp>
      <p:sp>
        <p:nvSpPr>
          <p:cNvPr id="17415" name="Rounded Rectangle 33"/>
          <p:cNvSpPr/>
          <p:nvPr/>
        </p:nvSpPr>
        <p:spPr>
          <a:xfrm>
            <a:off x="9038745" y="2807208"/>
            <a:ext cx="2487168" cy="1024128"/>
          </a:xfrm>
          <a:prstGeom prst="roundRect">
            <a:avLst/>
          </a:prstGeom>
          <a:solidFill>
            <a:srgbClr val="E8F6ED"/>
          </a:solidFill>
          <a:ln w="12700"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9148472" y="2880360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0">
                <a:solidFill>
                  <a:srgbClr val="12375C"/>
                </a:solidFill>
                <a:latin typeface="Aptos"/>
              </a:rPr>
              <a:t>🎧</a:t>
            </a:r>
            <a:endParaRPr sz="2200" b="0">
              <a:solidFill>
                <a:srgbClr val="12375C"/>
              </a:solidFill>
              <a:latin typeface="Aptos"/>
            </a:endParaRPr>
          </a:p>
        </p:txBody>
      </p:sp>
      <p:sp>
        <p:nvSpPr>
          <p:cNvPr id="17419" name="TextBox 17418"/>
          <p:cNvSpPr txBox="1"/>
          <p:nvPr/>
        </p:nvSpPr>
        <p:spPr>
          <a:xfrm>
            <a:off x="9648342" y="2948932"/>
            <a:ext cx="1773936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1" dirty="0">
                <a:solidFill>
                  <a:srgbClr val="378C5B"/>
                </a:solidFill>
                <a:latin typeface="Aptos"/>
              </a:rPr>
              <a:t>Practical Impact</a:t>
            </a:r>
            <a:endParaRPr sz="1250" b="1" dirty="0">
              <a:solidFill>
                <a:srgbClr val="378C5B"/>
              </a:solidFill>
              <a:latin typeface="Aptos"/>
            </a:endParaRPr>
          </a:p>
        </p:txBody>
      </p:sp>
      <p:sp>
        <p:nvSpPr>
          <p:cNvPr id="17421" name="TextBox 17420"/>
          <p:cNvSpPr txBox="1"/>
          <p:nvPr/>
        </p:nvSpPr>
        <p:spPr>
          <a:xfrm>
            <a:off x="9051527" y="3200400"/>
            <a:ext cx="1773936" cy="5852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 dirty="0">
                <a:solidFill>
                  <a:srgbClr val="5A646E"/>
                </a:solidFill>
                <a:latin typeface="Aptos"/>
              </a:rPr>
              <a:t>Clearer speech in high-noise environments</a:t>
            </a:r>
            <a:endParaRPr sz="1000" b="0" dirty="0">
              <a:solidFill>
                <a:srgbClr val="5A646E"/>
              </a:solidFill>
              <a:latin typeface="Aptos"/>
            </a:endParaRPr>
          </a:p>
        </p:txBody>
      </p:sp>
      <p:sp>
        <p:nvSpPr>
          <p:cNvPr id="17423" name="TextBox 17422"/>
          <p:cNvSpPr txBox="1"/>
          <p:nvPr/>
        </p:nvSpPr>
        <p:spPr>
          <a:xfrm>
            <a:off x="6319911" y="1181409"/>
            <a:ext cx="1231427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 dirty="0">
                <a:solidFill>
                  <a:srgbClr val="378C5B"/>
                </a:solidFill>
                <a:latin typeface="Aptos"/>
              </a:rPr>
              <a:t> VIABILITY</a:t>
            </a:r>
            <a:endParaRPr sz="1800" b="1" dirty="0">
              <a:solidFill>
                <a:srgbClr val="378C5B"/>
              </a:solidFill>
              <a:latin typeface="Aptos"/>
            </a:endParaRPr>
          </a:p>
        </p:txBody>
      </p:sp>
      <p:sp>
        <p:nvSpPr>
          <p:cNvPr id="17495" name="TextBox 17494"/>
          <p:cNvSpPr txBox="1"/>
          <p:nvPr/>
        </p:nvSpPr>
        <p:spPr>
          <a:xfrm>
            <a:off x="594360" y="4103926"/>
            <a:ext cx="1065276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dirty="0">
                <a:solidFill>
                  <a:srgbClr val="12375C"/>
                </a:solidFill>
                <a:latin typeface="Aptos"/>
              </a:rPr>
              <a:t>⚠  CHALLENGES  →  🛠  </a:t>
            </a:r>
            <a:r>
              <a:rPr lang="en-US" b="1" dirty="0">
                <a:solidFill>
                  <a:srgbClr val="12375C"/>
                </a:solidFill>
                <a:latin typeface="Aptos"/>
              </a:rPr>
              <a:t>SOLUTIONS</a:t>
            </a:r>
            <a:endParaRPr sz="1800" b="1" dirty="0">
              <a:solidFill>
                <a:srgbClr val="12375C"/>
              </a:solidFill>
              <a:latin typeface="Aptos"/>
            </a:endParaRPr>
          </a:p>
        </p:txBody>
      </p:sp>
      <p:sp>
        <p:nvSpPr>
          <p:cNvPr id="17497" name="Rounded Rectangle 38"/>
          <p:cNvSpPr/>
          <p:nvPr/>
        </p:nvSpPr>
        <p:spPr>
          <a:xfrm>
            <a:off x="594360" y="4608633"/>
            <a:ext cx="4160520" cy="310896"/>
          </a:xfrm>
          <a:prstGeom prst="roundRect">
            <a:avLst/>
          </a:prstGeom>
          <a:solidFill>
            <a:srgbClr val="FAE8E7"/>
          </a:solidFill>
          <a:ln>
            <a:solidFill>
              <a:srgbClr val="EECD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99" name="TextBox 17498"/>
          <p:cNvSpPr txBox="1"/>
          <p:nvPr/>
        </p:nvSpPr>
        <p:spPr>
          <a:xfrm>
            <a:off x="713232" y="4604061"/>
            <a:ext cx="32004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0">
                <a:solidFill>
                  <a:srgbClr val="BE4643"/>
                </a:solidFill>
                <a:latin typeface="Aptos"/>
              </a:rPr>
              <a:t>🔊</a:t>
            </a:r>
            <a:endParaRPr sz="1300" b="0">
              <a:solidFill>
                <a:srgbClr val="BE4643"/>
              </a:solidFill>
              <a:latin typeface="Aptos"/>
            </a:endParaRPr>
          </a:p>
        </p:txBody>
      </p:sp>
      <p:sp>
        <p:nvSpPr>
          <p:cNvPr id="17501" name="TextBox 17500"/>
          <p:cNvSpPr txBox="1"/>
          <p:nvPr/>
        </p:nvSpPr>
        <p:spPr>
          <a:xfrm>
            <a:off x="1051560" y="4604061"/>
            <a:ext cx="352044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 dirty="0">
                <a:solidFill>
                  <a:srgbClr val="232A30"/>
                </a:solidFill>
                <a:latin typeface="Aptos"/>
              </a:rPr>
              <a:t>Changing / non-stationary noise</a:t>
            </a:r>
            <a:endParaRPr sz="1050" b="1" dirty="0">
              <a:solidFill>
                <a:srgbClr val="232A30"/>
              </a:solidFill>
              <a:latin typeface="Aptos"/>
            </a:endParaRPr>
          </a:p>
        </p:txBody>
      </p:sp>
      <p:sp>
        <p:nvSpPr>
          <p:cNvPr id="17503" name="TextBox 17502"/>
          <p:cNvSpPr txBox="1"/>
          <p:nvPr/>
        </p:nvSpPr>
        <p:spPr>
          <a:xfrm>
            <a:off x="4864608" y="4604061"/>
            <a:ext cx="59436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E07E2D"/>
                </a:solidFill>
                <a:latin typeface="Aptos"/>
              </a:rPr>
              <a:t>→</a:t>
            </a:r>
            <a:endParaRPr sz="1600" b="1">
              <a:solidFill>
                <a:srgbClr val="E07E2D"/>
              </a:solidFill>
              <a:latin typeface="Aptos"/>
            </a:endParaRPr>
          </a:p>
        </p:txBody>
      </p:sp>
      <p:sp>
        <p:nvSpPr>
          <p:cNvPr id="17505" name="Rounded Rectangle 42"/>
          <p:cNvSpPr/>
          <p:nvPr/>
        </p:nvSpPr>
        <p:spPr>
          <a:xfrm>
            <a:off x="5532120" y="4608633"/>
            <a:ext cx="5715000" cy="310896"/>
          </a:xfrm>
          <a:prstGeom prst="roundRect">
            <a:avLst/>
          </a:prstGeom>
          <a:solidFill>
            <a:srgbClr val="E8F6ED"/>
          </a:solidFill>
          <a:ln>
            <a:solidFill>
              <a:srgbClr val="CC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07" name="TextBox 17506"/>
          <p:cNvSpPr txBox="1"/>
          <p:nvPr/>
        </p:nvSpPr>
        <p:spPr>
          <a:xfrm>
            <a:off x="5650992" y="4604061"/>
            <a:ext cx="32004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0">
                <a:solidFill>
                  <a:srgbClr val="378C5B"/>
                </a:solidFill>
                <a:latin typeface="Aptos"/>
              </a:rPr>
              <a:t>🧠</a:t>
            </a:r>
            <a:endParaRPr sz="1300" b="0">
              <a:solidFill>
                <a:srgbClr val="378C5B"/>
              </a:solidFill>
              <a:latin typeface="Aptos"/>
            </a:endParaRPr>
          </a:p>
        </p:txBody>
      </p:sp>
      <p:sp>
        <p:nvSpPr>
          <p:cNvPr id="17509" name="TextBox 17508"/>
          <p:cNvSpPr txBox="1"/>
          <p:nvPr/>
        </p:nvSpPr>
        <p:spPr>
          <a:xfrm>
            <a:off x="5989320" y="4604061"/>
            <a:ext cx="507492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 dirty="0">
                <a:solidFill>
                  <a:srgbClr val="232A30"/>
                </a:solidFill>
                <a:latin typeface="Aptos"/>
              </a:rPr>
              <a:t>Adaptive GRU-based suppression</a:t>
            </a:r>
            <a:endParaRPr sz="1050" b="1" dirty="0">
              <a:solidFill>
                <a:srgbClr val="232A30"/>
              </a:solidFill>
              <a:latin typeface="Aptos"/>
            </a:endParaRPr>
          </a:p>
        </p:txBody>
      </p:sp>
      <p:sp>
        <p:nvSpPr>
          <p:cNvPr id="17511" name="Rounded Rectangle 45"/>
          <p:cNvSpPr/>
          <p:nvPr/>
        </p:nvSpPr>
        <p:spPr>
          <a:xfrm>
            <a:off x="594360" y="5001824"/>
            <a:ext cx="4160520" cy="310896"/>
          </a:xfrm>
          <a:prstGeom prst="roundRect">
            <a:avLst/>
          </a:prstGeom>
          <a:solidFill>
            <a:srgbClr val="FAE8E7"/>
          </a:solidFill>
          <a:ln>
            <a:solidFill>
              <a:srgbClr val="EECD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13" name="TextBox 17512"/>
          <p:cNvSpPr txBox="1"/>
          <p:nvPr/>
        </p:nvSpPr>
        <p:spPr>
          <a:xfrm>
            <a:off x="713232" y="4997253"/>
            <a:ext cx="32004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0">
                <a:solidFill>
                  <a:srgbClr val="BE4643"/>
                </a:solidFill>
                <a:latin typeface="Aptos"/>
              </a:rPr>
              <a:t>💥</a:t>
            </a:r>
            <a:endParaRPr sz="1300" b="0">
              <a:solidFill>
                <a:srgbClr val="BE4643"/>
              </a:solidFill>
              <a:latin typeface="Aptos"/>
            </a:endParaRPr>
          </a:p>
        </p:txBody>
      </p:sp>
      <p:sp>
        <p:nvSpPr>
          <p:cNvPr id="17515" name="TextBox 17514"/>
          <p:cNvSpPr txBox="1"/>
          <p:nvPr/>
        </p:nvSpPr>
        <p:spPr>
          <a:xfrm>
            <a:off x="1051560" y="4997253"/>
            <a:ext cx="352044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232A30"/>
                </a:solidFill>
                <a:latin typeface="Aptos"/>
              </a:rPr>
              <a:t>Impulsive noise</a:t>
            </a:r>
            <a:endParaRPr sz="1050" b="1">
              <a:solidFill>
                <a:srgbClr val="232A30"/>
              </a:solidFill>
              <a:latin typeface="Aptos"/>
            </a:endParaRPr>
          </a:p>
        </p:txBody>
      </p:sp>
      <p:sp>
        <p:nvSpPr>
          <p:cNvPr id="17517" name="TextBox 17516"/>
          <p:cNvSpPr txBox="1"/>
          <p:nvPr/>
        </p:nvSpPr>
        <p:spPr>
          <a:xfrm>
            <a:off x="4864608" y="4997253"/>
            <a:ext cx="59436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E07E2D"/>
                </a:solidFill>
                <a:latin typeface="Aptos"/>
              </a:rPr>
              <a:t>→</a:t>
            </a:r>
            <a:endParaRPr sz="1600" b="1">
              <a:solidFill>
                <a:srgbClr val="E07E2D"/>
              </a:solidFill>
              <a:latin typeface="Aptos"/>
            </a:endParaRPr>
          </a:p>
        </p:txBody>
      </p:sp>
      <p:sp>
        <p:nvSpPr>
          <p:cNvPr id="17519" name="Rounded Rectangle 49"/>
          <p:cNvSpPr/>
          <p:nvPr/>
        </p:nvSpPr>
        <p:spPr>
          <a:xfrm>
            <a:off x="5532120" y="5001824"/>
            <a:ext cx="5715000" cy="310896"/>
          </a:xfrm>
          <a:prstGeom prst="roundRect">
            <a:avLst/>
          </a:prstGeom>
          <a:solidFill>
            <a:srgbClr val="E8F6ED"/>
          </a:solidFill>
          <a:ln>
            <a:solidFill>
              <a:srgbClr val="CC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21" name="TextBox 17520"/>
          <p:cNvSpPr txBox="1"/>
          <p:nvPr/>
        </p:nvSpPr>
        <p:spPr>
          <a:xfrm>
            <a:off x="5650992" y="4997253"/>
            <a:ext cx="32004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0">
                <a:solidFill>
                  <a:srgbClr val="378C5B"/>
                </a:solidFill>
                <a:latin typeface="Aptos"/>
              </a:rPr>
              <a:t>🎯</a:t>
            </a:r>
            <a:endParaRPr sz="1300" b="0">
              <a:solidFill>
                <a:srgbClr val="378C5B"/>
              </a:solidFill>
              <a:latin typeface="Aptos"/>
            </a:endParaRPr>
          </a:p>
        </p:txBody>
      </p:sp>
      <p:sp>
        <p:nvSpPr>
          <p:cNvPr id="17523" name="TextBox 17522"/>
          <p:cNvSpPr txBox="1"/>
          <p:nvPr/>
        </p:nvSpPr>
        <p:spPr>
          <a:xfrm>
            <a:off x="5989320" y="4940380"/>
            <a:ext cx="5033750" cy="41549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n-IN" sz="1050" b="1" dirty="0">
                <a:solidFill>
                  <a:srgbClr val="232A30"/>
                </a:solidFill>
                <a:latin typeface="Aptos"/>
              </a:rPr>
              <a:t>Adaptive masking trained on real transient-noise examples (claps, clicks, glass </a:t>
            </a:r>
            <a:endParaRPr lang="en-IN" sz="1050" b="1" dirty="0">
              <a:solidFill>
                <a:srgbClr val="232A30"/>
              </a:solidFill>
              <a:latin typeface="Aptos"/>
            </a:endParaRPr>
          </a:p>
          <a:p>
            <a:pPr algn="l"/>
            <a:r>
              <a:rPr lang="en-IN" sz="1050" b="1" dirty="0" err="1">
                <a:solidFill>
                  <a:srgbClr val="232A30"/>
                </a:solidFill>
                <a:latin typeface="Aptos"/>
              </a:rPr>
              <a:t>breaks,fireworks</a:t>
            </a:r>
            <a:r>
              <a:rPr lang="en-IN" sz="1050" b="1" dirty="0">
                <a:solidFill>
                  <a:srgbClr val="232A30"/>
                </a:solidFill>
                <a:latin typeface="Aptos"/>
              </a:rPr>
              <a:t>)</a:t>
            </a:r>
            <a:endParaRPr sz="1050" b="1" dirty="0">
              <a:solidFill>
                <a:srgbClr val="232A30"/>
              </a:solidFill>
              <a:latin typeface="Aptos"/>
            </a:endParaRPr>
          </a:p>
        </p:txBody>
      </p:sp>
      <p:sp>
        <p:nvSpPr>
          <p:cNvPr id="17525" name="Rounded Rectangle 52"/>
          <p:cNvSpPr/>
          <p:nvPr/>
        </p:nvSpPr>
        <p:spPr>
          <a:xfrm>
            <a:off x="594360" y="5395017"/>
            <a:ext cx="4160520" cy="310896"/>
          </a:xfrm>
          <a:prstGeom prst="roundRect">
            <a:avLst/>
          </a:prstGeom>
          <a:solidFill>
            <a:srgbClr val="FAE8E7"/>
          </a:solidFill>
          <a:ln>
            <a:solidFill>
              <a:srgbClr val="EECD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27" name="TextBox 17526"/>
          <p:cNvSpPr txBox="1"/>
          <p:nvPr/>
        </p:nvSpPr>
        <p:spPr>
          <a:xfrm>
            <a:off x="713232" y="5390445"/>
            <a:ext cx="32004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0">
                <a:solidFill>
                  <a:srgbClr val="BE4643"/>
                </a:solidFill>
                <a:latin typeface="Aptos"/>
              </a:rPr>
              <a:t>🗣</a:t>
            </a:r>
            <a:endParaRPr sz="1300" b="0">
              <a:solidFill>
                <a:srgbClr val="BE4643"/>
              </a:solidFill>
              <a:latin typeface="Aptos"/>
            </a:endParaRPr>
          </a:p>
        </p:txBody>
      </p:sp>
      <p:sp>
        <p:nvSpPr>
          <p:cNvPr id="17529" name="TextBox 17528"/>
          <p:cNvSpPr txBox="1"/>
          <p:nvPr/>
        </p:nvSpPr>
        <p:spPr>
          <a:xfrm>
            <a:off x="1051560" y="5390445"/>
            <a:ext cx="352044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232A30"/>
                </a:solidFill>
                <a:latin typeface="Aptos"/>
              </a:rPr>
              <a:t>Speech distortion</a:t>
            </a:r>
            <a:endParaRPr sz="1050" b="1">
              <a:solidFill>
                <a:srgbClr val="232A30"/>
              </a:solidFill>
              <a:latin typeface="Aptos"/>
            </a:endParaRPr>
          </a:p>
        </p:txBody>
      </p:sp>
      <p:sp>
        <p:nvSpPr>
          <p:cNvPr id="17531" name="TextBox 17530"/>
          <p:cNvSpPr txBox="1"/>
          <p:nvPr/>
        </p:nvSpPr>
        <p:spPr>
          <a:xfrm>
            <a:off x="4864608" y="5390445"/>
            <a:ext cx="59436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E07E2D"/>
                </a:solidFill>
                <a:latin typeface="Aptos"/>
              </a:rPr>
              <a:t>→</a:t>
            </a:r>
            <a:endParaRPr sz="1600" b="1">
              <a:solidFill>
                <a:srgbClr val="E07E2D"/>
              </a:solidFill>
              <a:latin typeface="Aptos"/>
            </a:endParaRPr>
          </a:p>
        </p:txBody>
      </p:sp>
      <p:sp>
        <p:nvSpPr>
          <p:cNvPr id="17533" name="Rounded Rectangle 56"/>
          <p:cNvSpPr/>
          <p:nvPr/>
        </p:nvSpPr>
        <p:spPr>
          <a:xfrm>
            <a:off x="5532120" y="5395017"/>
            <a:ext cx="5715000" cy="310896"/>
          </a:xfrm>
          <a:prstGeom prst="roundRect">
            <a:avLst/>
          </a:prstGeom>
          <a:solidFill>
            <a:srgbClr val="E8F6ED"/>
          </a:solidFill>
          <a:ln>
            <a:solidFill>
              <a:srgbClr val="CC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35" name="TextBox 17534"/>
          <p:cNvSpPr txBox="1"/>
          <p:nvPr/>
        </p:nvSpPr>
        <p:spPr>
          <a:xfrm>
            <a:off x="5650992" y="5390445"/>
            <a:ext cx="32004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0">
                <a:solidFill>
                  <a:srgbClr val="378C5B"/>
                </a:solidFill>
                <a:latin typeface="Aptos"/>
              </a:rPr>
              <a:t>🗣</a:t>
            </a:r>
            <a:endParaRPr sz="1300" b="0">
              <a:solidFill>
                <a:srgbClr val="378C5B"/>
              </a:solidFill>
              <a:latin typeface="Aptos"/>
            </a:endParaRPr>
          </a:p>
        </p:txBody>
      </p:sp>
      <p:sp>
        <p:nvSpPr>
          <p:cNvPr id="17537" name="TextBox 17536"/>
          <p:cNvSpPr txBox="1"/>
          <p:nvPr/>
        </p:nvSpPr>
        <p:spPr>
          <a:xfrm>
            <a:off x="5989320" y="5390445"/>
            <a:ext cx="507492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232A30"/>
                </a:solidFill>
                <a:latin typeface="Aptos"/>
              </a:rPr>
              <a:t>Speech-preservation objective</a:t>
            </a:r>
            <a:endParaRPr sz="1050" b="1">
              <a:solidFill>
                <a:srgbClr val="232A30"/>
              </a:solidFill>
              <a:latin typeface="Aptos"/>
            </a:endParaRPr>
          </a:p>
        </p:txBody>
      </p:sp>
      <p:sp>
        <p:nvSpPr>
          <p:cNvPr id="17539" name="Rounded Rectangle 59"/>
          <p:cNvSpPr/>
          <p:nvPr/>
        </p:nvSpPr>
        <p:spPr>
          <a:xfrm>
            <a:off x="594360" y="5788209"/>
            <a:ext cx="4160520" cy="310896"/>
          </a:xfrm>
          <a:prstGeom prst="roundRect">
            <a:avLst/>
          </a:prstGeom>
          <a:solidFill>
            <a:srgbClr val="FAE8E7"/>
          </a:solidFill>
          <a:ln>
            <a:solidFill>
              <a:srgbClr val="EECD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41" name="TextBox 17540"/>
          <p:cNvSpPr txBox="1"/>
          <p:nvPr/>
        </p:nvSpPr>
        <p:spPr>
          <a:xfrm>
            <a:off x="713232" y="5783637"/>
            <a:ext cx="32004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0">
                <a:solidFill>
                  <a:srgbClr val="BE4643"/>
                </a:solidFill>
                <a:latin typeface="Aptos"/>
              </a:rPr>
              <a:t>⏱</a:t>
            </a:r>
            <a:endParaRPr sz="1300" b="0">
              <a:solidFill>
                <a:srgbClr val="BE4643"/>
              </a:solidFill>
              <a:latin typeface="Aptos"/>
            </a:endParaRPr>
          </a:p>
        </p:txBody>
      </p:sp>
      <p:sp>
        <p:nvSpPr>
          <p:cNvPr id="17543" name="TextBox 17542"/>
          <p:cNvSpPr txBox="1"/>
          <p:nvPr/>
        </p:nvSpPr>
        <p:spPr>
          <a:xfrm>
            <a:off x="1051560" y="5783637"/>
            <a:ext cx="352044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232A30"/>
                </a:solidFill>
                <a:latin typeface="Aptos"/>
              </a:rPr>
              <a:t>Embedded latency</a:t>
            </a:r>
            <a:endParaRPr sz="1050" b="1">
              <a:solidFill>
                <a:srgbClr val="232A30"/>
              </a:solidFill>
              <a:latin typeface="Aptos"/>
            </a:endParaRPr>
          </a:p>
        </p:txBody>
      </p:sp>
      <p:sp>
        <p:nvSpPr>
          <p:cNvPr id="17545" name="TextBox 17544"/>
          <p:cNvSpPr txBox="1"/>
          <p:nvPr/>
        </p:nvSpPr>
        <p:spPr>
          <a:xfrm>
            <a:off x="4864608" y="5783637"/>
            <a:ext cx="59436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E07E2D"/>
                </a:solidFill>
                <a:latin typeface="Aptos"/>
              </a:rPr>
              <a:t>→</a:t>
            </a:r>
            <a:endParaRPr sz="1600" b="1">
              <a:solidFill>
                <a:srgbClr val="E07E2D"/>
              </a:solidFill>
              <a:latin typeface="Aptos"/>
            </a:endParaRPr>
          </a:p>
        </p:txBody>
      </p:sp>
      <p:sp>
        <p:nvSpPr>
          <p:cNvPr id="17547" name="Rounded Rectangle 63"/>
          <p:cNvSpPr/>
          <p:nvPr/>
        </p:nvSpPr>
        <p:spPr>
          <a:xfrm>
            <a:off x="5532120" y="5788209"/>
            <a:ext cx="5715000" cy="310896"/>
          </a:xfrm>
          <a:prstGeom prst="roundRect">
            <a:avLst/>
          </a:prstGeom>
          <a:solidFill>
            <a:srgbClr val="E8F6ED"/>
          </a:solidFill>
          <a:ln>
            <a:solidFill>
              <a:srgbClr val="CC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49" name="TextBox 17548"/>
          <p:cNvSpPr txBox="1"/>
          <p:nvPr/>
        </p:nvSpPr>
        <p:spPr>
          <a:xfrm>
            <a:off x="5650992" y="5783637"/>
            <a:ext cx="32004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0">
                <a:solidFill>
                  <a:srgbClr val="378C5B"/>
                </a:solidFill>
                <a:latin typeface="Aptos"/>
              </a:rPr>
              <a:t>⚡</a:t>
            </a:r>
            <a:endParaRPr sz="1300" b="0">
              <a:solidFill>
                <a:srgbClr val="378C5B"/>
              </a:solidFill>
              <a:latin typeface="Aptos"/>
            </a:endParaRPr>
          </a:p>
        </p:txBody>
      </p:sp>
      <p:sp>
        <p:nvSpPr>
          <p:cNvPr id="17551" name="TextBox 17550"/>
          <p:cNvSpPr txBox="1"/>
          <p:nvPr/>
        </p:nvSpPr>
        <p:spPr>
          <a:xfrm>
            <a:off x="5989320" y="5783637"/>
            <a:ext cx="507492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232A30"/>
                </a:solidFill>
                <a:latin typeface="Aptos"/>
              </a:rPr>
              <a:t>Lightweight model + ONNX optimization</a:t>
            </a:r>
            <a:endParaRPr sz="1050" b="1">
              <a:solidFill>
                <a:srgbClr val="232A30"/>
              </a:solidFill>
              <a:latin typeface="Aptos"/>
            </a:endParaRPr>
          </a:p>
        </p:txBody>
      </p:sp>
      <p:sp>
        <p:nvSpPr>
          <p:cNvPr id="17553" name="Rounded Rectangle 66"/>
          <p:cNvSpPr/>
          <p:nvPr/>
        </p:nvSpPr>
        <p:spPr>
          <a:xfrm>
            <a:off x="594360" y="6181401"/>
            <a:ext cx="4160520" cy="310896"/>
          </a:xfrm>
          <a:prstGeom prst="roundRect">
            <a:avLst/>
          </a:prstGeom>
          <a:solidFill>
            <a:srgbClr val="FAE8E7"/>
          </a:solidFill>
          <a:ln>
            <a:solidFill>
              <a:srgbClr val="EECD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55" name="TextBox 17554"/>
          <p:cNvSpPr txBox="1"/>
          <p:nvPr/>
        </p:nvSpPr>
        <p:spPr>
          <a:xfrm>
            <a:off x="713232" y="6176829"/>
            <a:ext cx="32004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0">
                <a:solidFill>
                  <a:srgbClr val="BE4643"/>
                </a:solidFill>
                <a:latin typeface="Aptos"/>
              </a:rPr>
              <a:t>📊</a:t>
            </a:r>
            <a:endParaRPr sz="1300" b="0">
              <a:solidFill>
                <a:srgbClr val="BE4643"/>
              </a:solidFill>
              <a:latin typeface="Aptos"/>
            </a:endParaRPr>
          </a:p>
        </p:txBody>
      </p:sp>
      <p:sp>
        <p:nvSpPr>
          <p:cNvPr id="17557" name="TextBox 17556"/>
          <p:cNvSpPr txBox="1"/>
          <p:nvPr/>
        </p:nvSpPr>
        <p:spPr>
          <a:xfrm>
            <a:off x="1051560" y="6176829"/>
            <a:ext cx="352044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232A30"/>
                </a:solidFill>
                <a:latin typeface="Aptos"/>
              </a:rPr>
              <a:t>Limited defence data</a:t>
            </a:r>
            <a:endParaRPr sz="1050" b="1">
              <a:solidFill>
                <a:srgbClr val="232A30"/>
              </a:solidFill>
              <a:latin typeface="Aptos"/>
            </a:endParaRPr>
          </a:p>
        </p:txBody>
      </p:sp>
      <p:sp>
        <p:nvSpPr>
          <p:cNvPr id="17559" name="TextBox 17558"/>
          <p:cNvSpPr txBox="1"/>
          <p:nvPr/>
        </p:nvSpPr>
        <p:spPr>
          <a:xfrm>
            <a:off x="4864608" y="6176829"/>
            <a:ext cx="59436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E07E2D"/>
                </a:solidFill>
                <a:latin typeface="Aptos"/>
              </a:rPr>
              <a:t>→</a:t>
            </a:r>
            <a:endParaRPr sz="1600" b="1">
              <a:solidFill>
                <a:srgbClr val="E07E2D"/>
              </a:solidFill>
              <a:latin typeface="Aptos"/>
            </a:endParaRPr>
          </a:p>
        </p:txBody>
      </p:sp>
      <p:sp>
        <p:nvSpPr>
          <p:cNvPr id="17561" name="Rounded Rectangle 70"/>
          <p:cNvSpPr/>
          <p:nvPr/>
        </p:nvSpPr>
        <p:spPr>
          <a:xfrm>
            <a:off x="5532120" y="6181401"/>
            <a:ext cx="5715000" cy="310896"/>
          </a:xfrm>
          <a:prstGeom prst="roundRect">
            <a:avLst/>
          </a:prstGeom>
          <a:solidFill>
            <a:srgbClr val="E8F6ED"/>
          </a:solidFill>
          <a:ln>
            <a:solidFill>
              <a:srgbClr val="CC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63" name="TextBox 17562"/>
          <p:cNvSpPr txBox="1"/>
          <p:nvPr/>
        </p:nvSpPr>
        <p:spPr>
          <a:xfrm>
            <a:off x="5650992" y="6176829"/>
            <a:ext cx="32004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0">
                <a:solidFill>
                  <a:srgbClr val="378C5B"/>
                </a:solidFill>
                <a:latin typeface="Aptos"/>
              </a:rPr>
              <a:t>📚</a:t>
            </a:r>
            <a:endParaRPr sz="1300" b="0">
              <a:solidFill>
                <a:srgbClr val="378C5B"/>
              </a:solidFill>
              <a:latin typeface="Aptos"/>
            </a:endParaRPr>
          </a:p>
        </p:txBody>
      </p:sp>
      <p:sp>
        <p:nvSpPr>
          <p:cNvPr id="17565" name="TextBox 17564"/>
          <p:cNvSpPr txBox="1"/>
          <p:nvPr/>
        </p:nvSpPr>
        <p:spPr>
          <a:xfrm>
            <a:off x="5989320" y="6200747"/>
            <a:ext cx="2372765" cy="2539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 dirty="0">
                <a:solidFill>
                  <a:srgbClr val="232A30"/>
                </a:solidFill>
                <a:latin typeface="Aptos"/>
              </a:rPr>
              <a:t>Public + synthetic noise generation</a:t>
            </a:r>
            <a:endParaRPr sz="1050" b="1" dirty="0">
              <a:solidFill>
                <a:srgbClr val="232A3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IMPACT AND BENEFITS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19182" y="1184971"/>
            <a:ext cx="11051458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R="0" lvl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Cambria" panose="02040503050406030204" charset="0"/>
                <a:cs typeface="Cambria" panose="02040503050406030204" charset="0"/>
              </a:rPr>
              <a:t>Impact on </a:t>
            </a:r>
            <a:r>
              <a:rPr lang="en-IN" altLang="en-US" sz="2800" b="1" dirty="0">
                <a:solidFill>
                  <a:schemeClr val="accent1">
                    <a:lumMod val="75000"/>
                  </a:schemeClr>
                </a:solidFill>
                <a:latin typeface="Cambria" panose="02040503050406030204" charset="0"/>
                <a:cs typeface="Cambria" panose="02040503050406030204" charset="0"/>
              </a:rPr>
              <a:t>T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Cambria" panose="02040503050406030204" charset="0"/>
                <a:cs typeface="Cambria" panose="02040503050406030204" charset="0"/>
              </a:rPr>
              <a:t>arget </a:t>
            </a:r>
            <a:r>
              <a:rPr lang="en-IN" altLang="en-US" sz="2800" b="1" dirty="0">
                <a:solidFill>
                  <a:schemeClr val="accent1">
                    <a:lumMod val="75000"/>
                  </a:schemeClr>
                </a:solidFill>
                <a:latin typeface="Cambria" panose="02040503050406030204" charset="0"/>
                <a:cs typeface="Cambria" panose="02040503050406030204" charset="0"/>
              </a:rPr>
              <a:t>A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Cambria" panose="02040503050406030204" charset="0"/>
                <a:cs typeface="Cambria" panose="02040503050406030204" charset="0"/>
              </a:rPr>
              <a:t>udience</a:t>
            </a:r>
            <a:endParaRPr lang="en-US" sz="2800" b="1" dirty="0">
              <a:solidFill>
                <a:schemeClr val="accent1">
                  <a:lumMod val="75000"/>
                </a:schemeClr>
              </a:solidFill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14741" y="6492875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2" name="Oval 11" descr="Your startup LOGO"/>
          <p:cNvSpPr/>
          <p:nvPr/>
        </p:nvSpPr>
        <p:spPr>
          <a:xfrm>
            <a:off x="262255" y="252095"/>
            <a:ext cx="1370330" cy="80708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Cambria" panose="02040503050406030204" charset="0"/>
                <a:cs typeface="Cambria" panose="02040503050406030204" charset="0"/>
              </a:rPr>
              <a:t>Phoenix</a:t>
            </a:r>
            <a:endParaRPr lang="en-IN" sz="1600" b="1" dirty="0">
              <a:latin typeface="Cambria" panose="02040503050406030204" charset="0"/>
              <a:cs typeface="Cambria" panose="0204050305040603020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Rectangle: Rounded Corners 2"/>
          <p:cNvSpPr/>
          <p:nvPr/>
        </p:nvSpPr>
        <p:spPr>
          <a:xfrm>
            <a:off x="1445342" y="2035277"/>
            <a:ext cx="4188542" cy="1101213"/>
          </a:xfrm>
          <a:prstGeom prst="roundRect">
            <a:avLst>
              <a:gd name="adj" fmla="val 50000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Defence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Organizations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Clearer commands, Less communication errors, reliable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/>
          <p:cNvSpPr/>
          <p:nvPr/>
        </p:nvSpPr>
        <p:spPr>
          <a:xfrm>
            <a:off x="6250200" y="2035277"/>
            <a:ext cx="4188542" cy="1101212"/>
          </a:xfrm>
          <a:prstGeom prst="roundRect">
            <a:avLst>
              <a:gd name="adj" fmla="val 50000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Operators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speech intelligibility, reduced listening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effort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00767" y="3225715"/>
            <a:ext cx="11051458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accent3">
                    <a:lumMod val="50000"/>
                  </a:schemeClr>
                </a:solidFill>
              </a:rPr>
              <a:t>Benefits</a:t>
            </a:r>
            <a:endParaRPr lang="en-IN" sz="30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9" name="Rounded Rectangle 18"/>
          <p:cNvSpPr/>
          <p:nvPr/>
        </p:nvSpPr>
        <p:spPr>
          <a:xfrm>
            <a:off x="261992" y="3949762"/>
            <a:ext cx="3703320" cy="2606040"/>
          </a:xfrm>
          <a:prstGeom prst="roundRect">
            <a:avLst/>
          </a:prstGeom>
          <a:solidFill>
            <a:srgbClr val="EBF4FA"/>
          </a:solidFill>
          <a:ln w="12700">
            <a:solidFill>
              <a:srgbClr val="CD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dirty="0"/>
          </a:p>
        </p:txBody>
      </p:sp>
      <p:sp>
        <p:nvSpPr>
          <p:cNvPr id="17423" name="Rounded Rectangle 31"/>
          <p:cNvSpPr/>
          <p:nvPr/>
        </p:nvSpPr>
        <p:spPr>
          <a:xfrm>
            <a:off x="4351392" y="3949762"/>
            <a:ext cx="3703320" cy="2606040"/>
          </a:xfrm>
          <a:prstGeom prst="roundRect">
            <a:avLst/>
          </a:prstGeom>
          <a:solidFill>
            <a:srgbClr val="EBF6EE"/>
          </a:solidFill>
          <a:ln w="12700">
            <a:solidFill>
              <a:srgbClr val="CD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17424" name="Rounded Rectangle 44"/>
          <p:cNvSpPr/>
          <p:nvPr/>
        </p:nvSpPr>
        <p:spPr>
          <a:xfrm>
            <a:off x="8226688" y="3949762"/>
            <a:ext cx="3703320" cy="2606040"/>
          </a:xfrm>
          <a:prstGeom prst="roundRect">
            <a:avLst/>
          </a:prstGeom>
          <a:solidFill>
            <a:srgbClr val="FCF1E4"/>
          </a:solidFill>
          <a:ln w="12700">
            <a:solidFill>
              <a:srgbClr val="CD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17425" name="TextBox 19"/>
          <p:cNvSpPr txBox="1"/>
          <p:nvPr/>
        </p:nvSpPr>
        <p:spPr>
          <a:xfrm>
            <a:off x="548503" y="4142232"/>
            <a:ext cx="5029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100" b="0" dirty="0">
                <a:solidFill>
                  <a:srgbClr val="3074A9"/>
                </a:solidFill>
                <a:latin typeface="Aptos"/>
              </a:rPr>
              <a:t>🗣</a:t>
            </a:r>
            <a:endParaRPr sz="2100" b="0" dirty="0">
              <a:solidFill>
                <a:srgbClr val="3074A9"/>
              </a:solidFill>
              <a:latin typeface="Aptos"/>
            </a:endParaRPr>
          </a:p>
        </p:txBody>
      </p:sp>
      <p:sp>
        <p:nvSpPr>
          <p:cNvPr id="17426" name="TextBox 20"/>
          <p:cNvSpPr txBox="1"/>
          <p:nvPr/>
        </p:nvSpPr>
        <p:spPr>
          <a:xfrm>
            <a:off x="1124576" y="4114800"/>
            <a:ext cx="278892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350" b="1">
                <a:solidFill>
                  <a:srgbClr val="18395B"/>
                </a:solidFill>
                <a:latin typeface="Aptos"/>
              </a:rPr>
              <a:t>COMMUNICATION IMPACT</a:t>
            </a:r>
            <a:endParaRPr sz="1350" b="1">
              <a:solidFill>
                <a:srgbClr val="18395B"/>
              </a:solidFill>
              <a:latin typeface="Aptos"/>
            </a:endParaRPr>
          </a:p>
        </p:txBody>
      </p:sp>
      <p:sp>
        <p:nvSpPr>
          <p:cNvPr id="17427" name="TextBox 21"/>
          <p:cNvSpPr txBox="1"/>
          <p:nvPr/>
        </p:nvSpPr>
        <p:spPr>
          <a:xfrm>
            <a:off x="1108541" y="4422907"/>
            <a:ext cx="2393604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00" b="0" dirty="0">
                <a:solidFill>
                  <a:srgbClr val="64696E"/>
                </a:solidFill>
                <a:latin typeface="Aptos"/>
              </a:rPr>
              <a:t>Better understanding &amp; coordination</a:t>
            </a:r>
            <a:endParaRPr sz="1100" b="0" dirty="0">
              <a:solidFill>
                <a:srgbClr val="64696E"/>
              </a:solidFill>
              <a:latin typeface="Aptos"/>
            </a:endParaRPr>
          </a:p>
        </p:txBody>
      </p:sp>
      <p:sp>
        <p:nvSpPr>
          <p:cNvPr id="17428" name="TextBox 22"/>
          <p:cNvSpPr txBox="1"/>
          <p:nvPr/>
        </p:nvSpPr>
        <p:spPr>
          <a:xfrm>
            <a:off x="594224" y="4800600"/>
            <a:ext cx="320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50" b="1">
                <a:solidFill>
                  <a:srgbClr val="3074A9"/>
                </a:solidFill>
                <a:latin typeface="Aptos"/>
              </a:rPr>
              <a:t>1.</a:t>
            </a:r>
            <a:endParaRPr sz="950" b="1">
              <a:solidFill>
                <a:srgbClr val="3074A9"/>
              </a:solidFill>
              <a:latin typeface="Aptos"/>
            </a:endParaRPr>
          </a:p>
        </p:txBody>
      </p:sp>
      <p:sp>
        <p:nvSpPr>
          <p:cNvPr id="17429" name="TextBox 23"/>
          <p:cNvSpPr txBox="1"/>
          <p:nvPr/>
        </p:nvSpPr>
        <p:spPr>
          <a:xfrm>
            <a:off x="914264" y="4802084"/>
            <a:ext cx="1441420" cy="2462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00" b="1" dirty="0">
                <a:solidFill>
                  <a:srgbClr val="2D3237"/>
                </a:solidFill>
                <a:latin typeface="Aptos"/>
              </a:rPr>
              <a:t>Safer communication</a:t>
            </a:r>
            <a:endParaRPr sz="1000" b="1" dirty="0">
              <a:solidFill>
                <a:srgbClr val="2D3237"/>
              </a:solidFill>
              <a:latin typeface="Aptos"/>
            </a:endParaRPr>
          </a:p>
        </p:txBody>
      </p:sp>
      <p:sp>
        <p:nvSpPr>
          <p:cNvPr id="17430" name="TextBox 24"/>
          <p:cNvSpPr txBox="1"/>
          <p:nvPr/>
        </p:nvSpPr>
        <p:spPr>
          <a:xfrm>
            <a:off x="919046" y="5110973"/>
            <a:ext cx="2900153" cy="2462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00" b="0" dirty="0">
                <a:solidFill>
                  <a:srgbClr val="64696E"/>
                </a:solidFill>
                <a:latin typeface="Aptos"/>
              </a:rPr>
              <a:t>Critical instructions remain easier to understand.</a:t>
            </a:r>
            <a:endParaRPr sz="1000" b="0" dirty="0">
              <a:solidFill>
                <a:srgbClr val="64696E"/>
              </a:solidFill>
              <a:latin typeface="Aptos"/>
            </a:endParaRPr>
          </a:p>
        </p:txBody>
      </p:sp>
      <p:sp>
        <p:nvSpPr>
          <p:cNvPr id="17431" name="TextBox 25"/>
          <p:cNvSpPr txBox="1"/>
          <p:nvPr/>
        </p:nvSpPr>
        <p:spPr>
          <a:xfrm>
            <a:off x="594224" y="5367528"/>
            <a:ext cx="320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50" b="1">
                <a:solidFill>
                  <a:srgbClr val="3074A9"/>
                </a:solidFill>
                <a:latin typeface="Aptos"/>
              </a:rPr>
              <a:t>2.</a:t>
            </a:r>
            <a:endParaRPr sz="950" b="1">
              <a:solidFill>
                <a:srgbClr val="3074A9"/>
              </a:solidFill>
              <a:latin typeface="Aptos"/>
            </a:endParaRPr>
          </a:p>
        </p:txBody>
      </p:sp>
      <p:sp>
        <p:nvSpPr>
          <p:cNvPr id="17432" name="TextBox 26"/>
          <p:cNvSpPr txBox="1"/>
          <p:nvPr/>
        </p:nvSpPr>
        <p:spPr>
          <a:xfrm>
            <a:off x="874831" y="5358853"/>
            <a:ext cx="28803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80" b="1" dirty="0">
                <a:solidFill>
                  <a:srgbClr val="2D3237"/>
                </a:solidFill>
                <a:latin typeface="Aptos"/>
              </a:rPr>
              <a:t>Reduced listening effort</a:t>
            </a:r>
            <a:endParaRPr sz="980" b="1" dirty="0">
              <a:solidFill>
                <a:srgbClr val="2D3237"/>
              </a:solidFill>
              <a:latin typeface="Aptos"/>
            </a:endParaRPr>
          </a:p>
        </p:txBody>
      </p:sp>
      <p:sp>
        <p:nvSpPr>
          <p:cNvPr id="17433" name="TextBox 27"/>
          <p:cNvSpPr txBox="1"/>
          <p:nvPr/>
        </p:nvSpPr>
        <p:spPr>
          <a:xfrm>
            <a:off x="926397" y="5636319"/>
            <a:ext cx="2613216" cy="2462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00" b="0" dirty="0">
                <a:solidFill>
                  <a:srgbClr val="64696E"/>
                </a:solidFill>
                <a:latin typeface="Aptos"/>
              </a:rPr>
              <a:t>Less effort to distinguish speech from noise</a:t>
            </a:r>
            <a:r>
              <a:rPr sz="830" b="0" dirty="0">
                <a:solidFill>
                  <a:srgbClr val="64696E"/>
                </a:solidFill>
                <a:latin typeface="Aptos"/>
              </a:rPr>
              <a:t>.</a:t>
            </a:r>
            <a:endParaRPr sz="830" b="0" dirty="0">
              <a:solidFill>
                <a:srgbClr val="64696E"/>
              </a:solidFill>
              <a:latin typeface="Aptos"/>
            </a:endParaRPr>
          </a:p>
        </p:txBody>
      </p:sp>
      <p:sp>
        <p:nvSpPr>
          <p:cNvPr id="17434" name="TextBox 28"/>
          <p:cNvSpPr txBox="1"/>
          <p:nvPr/>
        </p:nvSpPr>
        <p:spPr>
          <a:xfrm>
            <a:off x="594224" y="5934456"/>
            <a:ext cx="320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50" b="1">
                <a:solidFill>
                  <a:srgbClr val="3074A9"/>
                </a:solidFill>
                <a:latin typeface="Aptos"/>
              </a:rPr>
              <a:t>3.</a:t>
            </a:r>
            <a:endParaRPr sz="950" b="1">
              <a:solidFill>
                <a:srgbClr val="3074A9"/>
              </a:solidFill>
              <a:latin typeface="Aptos"/>
            </a:endParaRPr>
          </a:p>
        </p:txBody>
      </p:sp>
      <p:sp>
        <p:nvSpPr>
          <p:cNvPr id="17435" name="TextBox 29"/>
          <p:cNvSpPr txBox="1"/>
          <p:nvPr/>
        </p:nvSpPr>
        <p:spPr>
          <a:xfrm>
            <a:off x="874831" y="5931407"/>
            <a:ext cx="28803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80" b="1" dirty="0">
                <a:solidFill>
                  <a:srgbClr val="2D3237"/>
                </a:solidFill>
                <a:latin typeface="Aptos"/>
              </a:rPr>
              <a:t>Better coordination</a:t>
            </a:r>
            <a:endParaRPr sz="980" b="1" dirty="0">
              <a:solidFill>
                <a:srgbClr val="2D3237"/>
              </a:solidFill>
              <a:latin typeface="Aptos"/>
            </a:endParaRPr>
          </a:p>
        </p:txBody>
      </p:sp>
      <p:sp>
        <p:nvSpPr>
          <p:cNvPr id="17436" name="TextBox 30"/>
          <p:cNvSpPr txBox="1"/>
          <p:nvPr/>
        </p:nvSpPr>
        <p:spPr>
          <a:xfrm>
            <a:off x="874831" y="6150316"/>
            <a:ext cx="3130985" cy="2462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00" b="0" dirty="0">
                <a:solidFill>
                  <a:srgbClr val="64696E"/>
                </a:solidFill>
                <a:latin typeface="Aptos"/>
              </a:rPr>
              <a:t>Supports clearer communication between personnel</a:t>
            </a:r>
            <a:r>
              <a:rPr sz="830" b="0" dirty="0">
                <a:solidFill>
                  <a:srgbClr val="64696E"/>
                </a:solidFill>
                <a:latin typeface="Aptos"/>
              </a:rPr>
              <a:t>.</a:t>
            </a:r>
            <a:endParaRPr sz="830" b="0" dirty="0">
              <a:solidFill>
                <a:srgbClr val="64696E"/>
              </a:solidFill>
              <a:latin typeface="Aptos"/>
            </a:endParaRPr>
          </a:p>
        </p:txBody>
      </p:sp>
      <p:sp>
        <p:nvSpPr>
          <p:cNvPr id="17437" name="TextBox 32"/>
          <p:cNvSpPr txBox="1"/>
          <p:nvPr/>
        </p:nvSpPr>
        <p:spPr>
          <a:xfrm>
            <a:off x="4662094" y="4096512"/>
            <a:ext cx="5029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100" b="0">
                <a:solidFill>
                  <a:srgbClr val="3B895B"/>
                </a:solidFill>
                <a:latin typeface="Aptos"/>
              </a:rPr>
              <a:t>💰</a:t>
            </a:r>
            <a:endParaRPr sz="2100" b="0">
              <a:solidFill>
                <a:srgbClr val="3B895B"/>
              </a:solidFill>
              <a:latin typeface="Aptos"/>
            </a:endParaRPr>
          </a:p>
        </p:txBody>
      </p:sp>
      <p:sp>
        <p:nvSpPr>
          <p:cNvPr id="17438" name="TextBox 33"/>
          <p:cNvSpPr txBox="1"/>
          <p:nvPr/>
        </p:nvSpPr>
        <p:spPr>
          <a:xfrm>
            <a:off x="5238166" y="4069080"/>
            <a:ext cx="278892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350" b="1">
                <a:solidFill>
                  <a:srgbClr val="18395B"/>
                </a:solidFill>
                <a:latin typeface="Aptos"/>
              </a:rPr>
              <a:t>ECONOMIC</a:t>
            </a:r>
            <a:endParaRPr sz="1350" b="1">
              <a:solidFill>
                <a:srgbClr val="18395B"/>
              </a:solidFill>
              <a:latin typeface="Aptos"/>
            </a:endParaRPr>
          </a:p>
        </p:txBody>
      </p:sp>
      <p:sp>
        <p:nvSpPr>
          <p:cNvPr id="17439" name="TextBox 34"/>
          <p:cNvSpPr txBox="1"/>
          <p:nvPr/>
        </p:nvSpPr>
        <p:spPr>
          <a:xfrm>
            <a:off x="5238166" y="4394025"/>
            <a:ext cx="2073003" cy="2462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00" b="0" dirty="0">
                <a:solidFill>
                  <a:srgbClr val="64696E"/>
                </a:solidFill>
                <a:latin typeface="Aptos"/>
              </a:rPr>
              <a:t>Low-cost and scalable technology</a:t>
            </a:r>
            <a:endParaRPr sz="1000" b="0" dirty="0">
              <a:solidFill>
                <a:srgbClr val="64696E"/>
              </a:solidFill>
              <a:latin typeface="Aptos"/>
            </a:endParaRPr>
          </a:p>
        </p:txBody>
      </p:sp>
      <p:sp>
        <p:nvSpPr>
          <p:cNvPr id="17440" name="TextBox 35"/>
          <p:cNvSpPr txBox="1"/>
          <p:nvPr/>
        </p:nvSpPr>
        <p:spPr>
          <a:xfrm>
            <a:off x="4707814" y="4754880"/>
            <a:ext cx="320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50" b="1">
                <a:solidFill>
                  <a:srgbClr val="3B895B"/>
                </a:solidFill>
                <a:latin typeface="Aptos"/>
              </a:rPr>
              <a:t>1.</a:t>
            </a:r>
            <a:endParaRPr sz="950" b="1">
              <a:solidFill>
                <a:srgbClr val="3B895B"/>
              </a:solidFill>
              <a:latin typeface="Aptos"/>
            </a:endParaRPr>
          </a:p>
        </p:txBody>
      </p:sp>
      <p:sp>
        <p:nvSpPr>
          <p:cNvPr id="17441" name="TextBox 36"/>
          <p:cNvSpPr txBox="1"/>
          <p:nvPr/>
        </p:nvSpPr>
        <p:spPr>
          <a:xfrm>
            <a:off x="5091862" y="4754880"/>
            <a:ext cx="28803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80" b="1">
                <a:solidFill>
                  <a:srgbClr val="2D3237"/>
                </a:solidFill>
                <a:latin typeface="Aptos"/>
              </a:rPr>
              <a:t>Cost-effective</a:t>
            </a:r>
            <a:endParaRPr sz="980" b="1">
              <a:solidFill>
                <a:srgbClr val="2D3237"/>
              </a:solidFill>
              <a:latin typeface="Aptos"/>
            </a:endParaRPr>
          </a:p>
        </p:txBody>
      </p:sp>
      <p:sp>
        <p:nvSpPr>
          <p:cNvPr id="17442" name="TextBox 37"/>
          <p:cNvSpPr txBox="1"/>
          <p:nvPr/>
        </p:nvSpPr>
        <p:spPr>
          <a:xfrm>
            <a:off x="5091862" y="5034105"/>
            <a:ext cx="2989921" cy="2462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00" b="0" dirty="0">
                <a:solidFill>
                  <a:srgbClr val="64696E"/>
                </a:solidFill>
                <a:latin typeface="Aptos"/>
              </a:rPr>
              <a:t>Uses commercially available embedded hardware.</a:t>
            </a:r>
            <a:endParaRPr sz="1000" b="0" dirty="0">
              <a:solidFill>
                <a:srgbClr val="64696E"/>
              </a:solidFill>
              <a:latin typeface="Aptos"/>
            </a:endParaRPr>
          </a:p>
        </p:txBody>
      </p:sp>
      <p:sp>
        <p:nvSpPr>
          <p:cNvPr id="17443" name="TextBox 38"/>
          <p:cNvSpPr txBox="1"/>
          <p:nvPr/>
        </p:nvSpPr>
        <p:spPr>
          <a:xfrm>
            <a:off x="4707814" y="5321808"/>
            <a:ext cx="320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50" b="1">
                <a:solidFill>
                  <a:srgbClr val="3B895B"/>
                </a:solidFill>
                <a:latin typeface="Aptos"/>
              </a:rPr>
              <a:t>2.</a:t>
            </a:r>
            <a:endParaRPr sz="950" b="1">
              <a:solidFill>
                <a:srgbClr val="3B895B"/>
              </a:solidFill>
              <a:latin typeface="Aptos"/>
            </a:endParaRPr>
          </a:p>
        </p:txBody>
      </p:sp>
      <p:sp>
        <p:nvSpPr>
          <p:cNvPr id="17444" name="TextBox 39"/>
          <p:cNvSpPr txBox="1"/>
          <p:nvPr/>
        </p:nvSpPr>
        <p:spPr>
          <a:xfrm>
            <a:off x="5091862" y="5321808"/>
            <a:ext cx="28803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80" b="1">
                <a:solidFill>
                  <a:srgbClr val="2D3237"/>
                </a:solidFill>
                <a:latin typeface="Aptos"/>
              </a:rPr>
              <a:t>Low infrastructure dependency</a:t>
            </a:r>
            <a:endParaRPr sz="980" b="1">
              <a:solidFill>
                <a:srgbClr val="2D3237"/>
              </a:solidFill>
              <a:latin typeface="Aptos"/>
            </a:endParaRPr>
          </a:p>
        </p:txBody>
      </p:sp>
      <p:sp>
        <p:nvSpPr>
          <p:cNvPr id="17445" name="TextBox 40"/>
          <p:cNvSpPr txBox="1"/>
          <p:nvPr/>
        </p:nvSpPr>
        <p:spPr>
          <a:xfrm>
            <a:off x="5091862" y="5532120"/>
            <a:ext cx="288036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30" b="0">
                <a:solidFill>
                  <a:srgbClr val="64696E"/>
                </a:solidFill>
                <a:latin typeface="Aptos"/>
              </a:rPr>
              <a:t>Local processing reduces cloud requirements.</a:t>
            </a:r>
            <a:endParaRPr sz="830" b="0">
              <a:solidFill>
                <a:srgbClr val="64696E"/>
              </a:solidFill>
              <a:latin typeface="Aptos"/>
            </a:endParaRPr>
          </a:p>
        </p:txBody>
      </p:sp>
      <p:sp>
        <p:nvSpPr>
          <p:cNvPr id="17446" name="TextBox 41"/>
          <p:cNvSpPr txBox="1"/>
          <p:nvPr/>
        </p:nvSpPr>
        <p:spPr>
          <a:xfrm>
            <a:off x="4707814" y="5888736"/>
            <a:ext cx="320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50" b="1">
                <a:solidFill>
                  <a:srgbClr val="3B895B"/>
                </a:solidFill>
                <a:latin typeface="Aptos"/>
              </a:rPr>
              <a:t>3.</a:t>
            </a:r>
            <a:endParaRPr sz="950" b="1">
              <a:solidFill>
                <a:srgbClr val="3B895B"/>
              </a:solidFill>
              <a:latin typeface="Aptos"/>
            </a:endParaRPr>
          </a:p>
        </p:txBody>
      </p:sp>
      <p:sp>
        <p:nvSpPr>
          <p:cNvPr id="17447" name="TextBox 42"/>
          <p:cNvSpPr txBox="1"/>
          <p:nvPr/>
        </p:nvSpPr>
        <p:spPr>
          <a:xfrm>
            <a:off x="5091862" y="5888736"/>
            <a:ext cx="28803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80" b="1">
                <a:solidFill>
                  <a:srgbClr val="2D3237"/>
                </a:solidFill>
                <a:latin typeface="Aptos"/>
              </a:rPr>
              <a:t>Scalable</a:t>
            </a:r>
            <a:endParaRPr sz="980" b="1">
              <a:solidFill>
                <a:srgbClr val="2D3237"/>
              </a:solidFill>
              <a:latin typeface="Aptos"/>
            </a:endParaRPr>
          </a:p>
        </p:txBody>
      </p:sp>
      <p:sp>
        <p:nvSpPr>
          <p:cNvPr id="17448" name="TextBox 43"/>
          <p:cNvSpPr txBox="1"/>
          <p:nvPr/>
        </p:nvSpPr>
        <p:spPr>
          <a:xfrm>
            <a:off x="5091862" y="6099048"/>
            <a:ext cx="288036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30" b="0">
                <a:solidFill>
                  <a:srgbClr val="64696E"/>
                </a:solidFill>
                <a:latin typeface="Aptos"/>
              </a:rPr>
              <a:t>Can extend from prototype to communication systems.</a:t>
            </a:r>
            <a:endParaRPr sz="830" b="0">
              <a:solidFill>
                <a:srgbClr val="64696E"/>
              </a:solidFill>
              <a:latin typeface="Aptos"/>
            </a:endParaRPr>
          </a:p>
        </p:txBody>
      </p:sp>
      <p:sp>
        <p:nvSpPr>
          <p:cNvPr id="17449" name="TextBox 45"/>
          <p:cNvSpPr txBox="1"/>
          <p:nvPr/>
        </p:nvSpPr>
        <p:spPr>
          <a:xfrm>
            <a:off x="8548982" y="4009953"/>
            <a:ext cx="5029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100" b="0">
                <a:solidFill>
                  <a:srgbClr val="DA7E30"/>
                </a:solidFill>
                <a:latin typeface="Aptos"/>
              </a:rPr>
              <a:t>⚡</a:t>
            </a:r>
            <a:endParaRPr sz="2100" b="0">
              <a:solidFill>
                <a:srgbClr val="DA7E30"/>
              </a:solidFill>
              <a:latin typeface="Aptos"/>
            </a:endParaRPr>
          </a:p>
        </p:txBody>
      </p:sp>
      <p:sp>
        <p:nvSpPr>
          <p:cNvPr id="17450" name="TextBox 46"/>
          <p:cNvSpPr txBox="1"/>
          <p:nvPr/>
        </p:nvSpPr>
        <p:spPr>
          <a:xfrm>
            <a:off x="9024469" y="4073961"/>
            <a:ext cx="278892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350" b="1">
                <a:solidFill>
                  <a:srgbClr val="18395B"/>
                </a:solidFill>
                <a:latin typeface="Aptos"/>
              </a:rPr>
              <a:t>OPERATIONAL RESILIENCE</a:t>
            </a:r>
            <a:endParaRPr sz="1350" b="1">
              <a:solidFill>
                <a:srgbClr val="18395B"/>
              </a:solidFill>
              <a:latin typeface="Aptos"/>
            </a:endParaRPr>
          </a:p>
        </p:txBody>
      </p:sp>
      <p:sp>
        <p:nvSpPr>
          <p:cNvPr id="17451" name="TextBox 47"/>
          <p:cNvSpPr txBox="1"/>
          <p:nvPr/>
        </p:nvSpPr>
        <p:spPr>
          <a:xfrm>
            <a:off x="9125053" y="4302561"/>
            <a:ext cx="27889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0">
                <a:solidFill>
                  <a:srgbClr val="64696E"/>
                </a:solidFill>
                <a:latin typeface="Aptos"/>
              </a:rPr>
              <a:t>Designed for demanding environments</a:t>
            </a:r>
            <a:endParaRPr sz="900" b="0">
              <a:solidFill>
                <a:srgbClr val="64696E"/>
              </a:solidFill>
              <a:latin typeface="Aptos"/>
            </a:endParaRPr>
          </a:p>
        </p:txBody>
      </p:sp>
      <p:sp>
        <p:nvSpPr>
          <p:cNvPr id="17452" name="TextBox 48"/>
          <p:cNvSpPr txBox="1"/>
          <p:nvPr/>
        </p:nvSpPr>
        <p:spPr>
          <a:xfrm>
            <a:off x="8594701" y="4668321"/>
            <a:ext cx="320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50" b="1">
                <a:solidFill>
                  <a:srgbClr val="DA7E30"/>
                </a:solidFill>
                <a:latin typeface="Aptos"/>
              </a:rPr>
              <a:t>1.</a:t>
            </a:r>
            <a:endParaRPr sz="950" b="1">
              <a:solidFill>
                <a:srgbClr val="DA7E30"/>
              </a:solidFill>
              <a:latin typeface="Aptos"/>
            </a:endParaRPr>
          </a:p>
        </p:txBody>
      </p:sp>
      <p:sp>
        <p:nvSpPr>
          <p:cNvPr id="17453" name="TextBox 49"/>
          <p:cNvSpPr txBox="1"/>
          <p:nvPr/>
        </p:nvSpPr>
        <p:spPr>
          <a:xfrm>
            <a:off x="8978749" y="4668321"/>
            <a:ext cx="28803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80" b="1">
                <a:solidFill>
                  <a:srgbClr val="2D3237"/>
                </a:solidFill>
                <a:latin typeface="Aptos"/>
              </a:rPr>
              <a:t>Offline operation</a:t>
            </a:r>
            <a:endParaRPr sz="980" b="1">
              <a:solidFill>
                <a:srgbClr val="2D3237"/>
              </a:solidFill>
              <a:latin typeface="Aptos"/>
            </a:endParaRPr>
          </a:p>
        </p:txBody>
      </p:sp>
      <p:sp>
        <p:nvSpPr>
          <p:cNvPr id="17454" name="TextBox 50"/>
          <p:cNvSpPr txBox="1"/>
          <p:nvPr/>
        </p:nvSpPr>
        <p:spPr>
          <a:xfrm>
            <a:off x="8978749" y="4878633"/>
            <a:ext cx="288036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30" b="0">
                <a:solidFill>
                  <a:srgbClr val="64696E"/>
                </a:solidFill>
                <a:latin typeface="Aptos"/>
              </a:rPr>
              <a:t>Speech enhancement continues without internet.</a:t>
            </a:r>
            <a:endParaRPr sz="830" b="0">
              <a:solidFill>
                <a:srgbClr val="64696E"/>
              </a:solidFill>
              <a:latin typeface="Aptos"/>
            </a:endParaRPr>
          </a:p>
        </p:txBody>
      </p:sp>
      <p:sp>
        <p:nvSpPr>
          <p:cNvPr id="17455" name="TextBox 51"/>
          <p:cNvSpPr txBox="1"/>
          <p:nvPr/>
        </p:nvSpPr>
        <p:spPr>
          <a:xfrm>
            <a:off x="8594701" y="5235249"/>
            <a:ext cx="320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50" b="1">
                <a:solidFill>
                  <a:srgbClr val="DA7E30"/>
                </a:solidFill>
                <a:latin typeface="Aptos"/>
              </a:rPr>
              <a:t>2.</a:t>
            </a:r>
            <a:endParaRPr sz="950" b="1">
              <a:solidFill>
                <a:srgbClr val="DA7E30"/>
              </a:solidFill>
              <a:latin typeface="Aptos"/>
            </a:endParaRPr>
          </a:p>
        </p:txBody>
      </p:sp>
      <p:sp>
        <p:nvSpPr>
          <p:cNvPr id="17456" name="TextBox 52"/>
          <p:cNvSpPr txBox="1"/>
          <p:nvPr/>
        </p:nvSpPr>
        <p:spPr>
          <a:xfrm>
            <a:off x="8978749" y="5235249"/>
            <a:ext cx="28803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80" b="1">
                <a:solidFill>
                  <a:srgbClr val="2D3237"/>
                </a:solidFill>
                <a:latin typeface="Aptos"/>
              </a:rPr>
              <a:t>Adaptive noise handling</a:t>
            </a:r>
            <a:endParaRPr sz="980" b="1">
              <a:solidFill>
                <a:srgbClr val="2D3237"/>
              </a:solidFill>
              <a:latin typeface="Aptos"/>
            </a:endParaRPr>
          </a:p>
        </p:txBody>
      </p:sp>
      <p:sp>
        <p:nvSpPr>
          <p:cNvPr id="17457" name="TextBox 53"/>
          <p:cNvSpPr txBox="1"/>
          <p:nvPr/>
        </p:nvSpPr>
        <p:spPr>
          <a:xfrm>
            <a:off x="8978749" y="5445561"/>
            <a:ext cx="288036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30" b="0">
                <a:solidFill>
                  <a:srgbClr val="64696E"/>
                </a:solidFill>
                <a:latin typeface="Aptos"/>
              </a:rPr>
              <a:t>Targets stationary, changing and impulsive noise.</a:t>
            </a:r>
            <a:endParaRPr sz="830" b="0">
              <a:solidFill>
                <a:srgbClr val="64696E"/>
              </a:solidFill>
              <a:latin typeface="Aptos"/>
            </a:endParaRPr>
          </a:p>
        </p:txBody>
      </p:sp>
      <p:sp>
        <p:nvSpPr>
          <p:cNvPr id="17458" name="TextBox 54"/>
          <p:cNvSpPr txBox="1"/>
          <p:nvPr/>
        </p:nvSpPr>
        <p:spPr>
          <a:xfrm>
            <a:off x="8594701" y="5802177"/>
            <a:ext cx="320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50" b="1">
                <a:solidFill>
                  <a:srgbClr val="DA7E30"/>
                </a:solidFill>
                <a:latin typeface="Aptos"/>
              </a:rPr>
              <a:t>3.</a:t>
            </a:r>
            <a:endParaRPr sz="950" b="1">
              <a:solidFill>
                <a:srgbClr val="DA7E30"/>
              </a:solidFill>
              <a:latin typeface="Aptos"/>
            </a:endParaRPr>
          </a:p>
        </p:txBody>
      </p:sp>
      <p:sp>
        <p:nvSpPr>
          <p:cNvPr id="17459" name="TextBox 55"/>
          <p:cNvSpPr txBox="1"/>
          <p:nvPr/>
        </p:nvSpPr>
        <p:spPr>
          <a:xfrm>
            <a:off x="8978749" y="5802177"/>
            <a:ext cx="28803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80" b="1">
                <a:solidFill>
                  <a:srgbClr val="2D3237"/>
                </a:solidFill>
                <a:latin typeface="Aptos"/>
              </a:rPr>
              <a:t>Real-time edge AI</a:t>
            </a:r>
            <a:endParaRPr sz="980" b="1">
              <a:solidFill>
                <a:srgbClr val="2D3237"/>
              </a:solidFill>
              <a:latin typeface="Aptos"/>
            </a:endParaRPr>
          </a:p>
        </p:txBody>
      </p:sp>
      <p:sp>
        <p:nvSpPr>
          <p:cNvPr id="17460" name="TextBox 56"/>
          <p:cNvSpPr txBox="1"/>
          <p:nvPr/>
        </p:nvSpPr>
        <p:spPr>
          <a:xfrm>
            <a:off x="8978749" y="6012489"/>
            <a:ext cx="288036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30" b="0">
                <a:solidFill>
                  <a:srgbClr val="64696E"/>
                </a:solidFill>
                <a:latin typeface="Aptos"/>
              </a:rPr>
              <a:t>Low-latency local processing for immediate output.</a:t>
            </a:r>
            <a:endParaRPr sz="830" b="0">
              <a:solidFill>
                <a:srgbClr val="64696E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415561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REFERENCES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025697"/>
            <a:ext cx="11307097" cy="230832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 Valin, J.-M. — "A Hybrid DSP/Deep Learning Approach to Real-Time Full-Band Speech Enhancement" — MMSP 2018.</a:t>
            </a:r>
            <a:endParaRPr lang="en-US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defRPr/>
            </a:pPr>
            <a:endParaRPr lang="en-US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defRPr/>
            </a:pP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 Schröter, Escalante-B., Rosenkranz, Maier — "DeepFilterNet2: Towards Real-Time Speech Enhancement on Embedded Devices for Full-Band Audio" — IWAENC 2022.</a:t>
            </a:r>
            <a:endParaRPr lang="en-US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defRPr/>
            </a:pPr>
            <a:endParaRPr lang="en-US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defRPr/>
            </a:pP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 Panayotov, V., Chen, G., Povey, D., </a:t>
            </a:r>
            <a:r>
              <a:rPr 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Khudanpur</a:t>
            </a: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S. (2015). </a:t>
            </a:r>
            <a:r>
              <a:rPr 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LibriSpeech</a:t>
            </a: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An ASR Corpus Based on Public Domain Audio Books. IEEE ICASSP 2015. — source of the clean speech training data (dev-clean subset).</a:t>
            </a:r>
            <a:endParaRPr lang="en-US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defRPr/>
            </a:pPr>
            <a:endParaRPr lang="en-US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defRPr/>
            </a:pP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 Kominek, J., Black, A.W. (2004). The CMU Arctic Speech Databases. 5th ISCA Speech Synthesis Workshop. — additional source of clean speech training data.</a:t>
            </a:r>
            <a:endParaRPr lang="en-US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defRPr/>
            </a:pPr>
            <a:endParaRPr lang="en-US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defRPr/>
            </a:pP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[5] Piczak, K.J. (2015). ESC: Dataset for Environmental Sound Classification. ACM Multimedia 2015. — source of the environmental/noise training data (ESC-50).</a:t>
            </a:r>
            <a:endParaRPr lang="en-US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b="1" dirty="0">
                <a:solidFill>
                  <a:schemeClr val="tx1"/>
                </a:solidFill>
              </a:rPr>
              <a:t>6</a:t>
            </a:r>
            <a:fld id="{677C3CE7-23F7-4828-823C-E0205DF2CF97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9" name="Oval 8" descr="Your startup LOGO"/>
          <p:cNvSpPr/>
          <p:nvPr/>
        </p:nvSpPr>
        <p:spPr>
          <a:xfrm>
            <a:off x="235975" y="252246"/>
            <a:ext cx="1345656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latin typeface="Cambria" panose="02040503050406030204" charset="0"/>
                <a:cs typeface="Cambria" panose="02040503050406030204" charset="0"/>
              </a:rPr>
              <a:t>Phoenix</a:t>
            </a:r>
            <a:endParaRPr lang="en-IN" sz="1600" b="1" dirty="0">
              <a:latin typeface="Cambria" panose="02040503050406030204" charset="0"/>
              <a:cs typeface="Cambria" panose="0204050305040603020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4746</Words>
  <Application>WPS Presentation</Application>
  <PresentationFormat>Widescreen</PresentationFormat>
  <Paragraphs>325</Paragraphs>
  <Slides>6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3" baseType="lpstr">
      <vt:lpstr>Arial</vt:lpstr>
      <vt:lpstr>SimSun</vt:lpstr>
      <vt:lpstr>Wingdings</vt:lpstr>
      <vt:lpstr>Calibri</vt:lpstr>
      <vt:lpstr>MS PGothic</vt:lpstr>
      <vt:lpstr>TradeGothic</vt:lpstr>
      <vt:lpstr>Segoe Print</vt:lpstr>
      <vt:lpstr>TradeGothic</vt:lpstr>
      <vt:lpstr>Arial</vt:lpstr>
      <vt:lpstr>Times New Roman</vt:lpstr>
      <vt:lpstr>Garamond</vt:lpstr>
      <vt:lpstr>Aptos</vt:lpstr>
      <vt:lpstr>Segoe UI</vt:lpstr>
      <vt:lpstr>Microsoft YaHei</vt:lpstr>
      <vt:lpstr>Arial Unicode MS</vt:lpstr>
      <vt:lpstr>Cambria</vt:lpstr>
      <vt:lpstr>Office Theme</vt:lpstr>
      <vt:lpstr>SMART INDIA HACKATHON 2026</vt:lpstr>
      <vt:lpstr> ADAPTIVE AI SPEECH ENHANCEMENT FOR DEFENCE COMMUNICATION</vt:lpstr>
      <vt:lpstr>TECHNICAL APPROACH</vt:lpstr>
      <vt:lpstr>FEASIBILITY AND VIABILITY</vt:lpstr>
      <vt:lpstr>IMPACT AND BENEFITS</vt:lpstr>
      <vt:lpstr>REFERENCES</vt:lpstr>
    </vt:vector>
  </TitlesOfParts>
  <Company>Crowdfunder, 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Harshil Jana</cp:lastModifiedBy>
  <cp:revision>166</cp:revision>
  <dcterms:created xsi:type="dcterms:W3CDTF">2013-12-12T18:46:00Z</dcterms:created>
  <dcterms:modified xsi:type="dcterms:W3CDTF">2026-09-07T15:16:27Z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60FABDD33DE64F8296173659CFEFA9B1_13</vt:lpwstr>
  </property>
  <property fmtid="{D5CDD505-2E9C-101B-9397-08002B2CF9AE}" pid="3" name="KSOProductBuildVer">
    <vt:lpwstr>1033-12.1.0.28485</vt:lpwstr>
  </property>
</Properties>
</file>