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117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EEB937-E951-46CE-97FC-8E299420715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A3DA5E-B207-425A-B7B6-9A4EF1E8C2C7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C00328-9F1D-4E72-9D07-0A3DA73222A2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43A8DB-41DB-45B7-BB4B-D8B9B5260C1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B929C4-E059-47C6-92FD-2018240F3DDE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63E159-AACF-4190-BED2-5282C431F977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032F61-E28F-4E7C-9440-8240ED4E8928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BD5908-10BD-439F-8D88-5750B95257D3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1FF543-2803-4FEA-B425-DBD42407DD21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8F8282-1B60-4256-ABE0-E3DE3DD61CC2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C2EE0E-94D8-4150-86D9-BE48A20492C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03920840-1EB3-4A83-97D2-AF1A4E73E365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479400"/>
            <a:ext cx="8534400" cy="115338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814" y="1543237"/>
            <a:ext cx="1184312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26052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To develop an AI/ML-enabled adaptive noise cancellation (ANC) system that effectively suppresses stationary, non-stationary, and impulsive defence noises while maintaining high speech intelligibility and real-time performance on embedded hardware.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Phoenix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2CAC94-E0D9-19E9-1446-F0F797FB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1" y="-47625"/>
            <a:ext cx="10127226" cy="1126051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ADAPTIVE AI SPEECH ENHANCEMENT FOR DEFENCE COMMUNICATION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5755-D468-486F-AB43-1D8020DEF35A}" type="slidenum">
              <a:rPr lang="en-US" b="1" smtClean="0">
                <a:solidFill>
                  <a:schemeClr val="tx1"/>
                </a:solidFill>
              </a:rPr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249087" y="252246"/>
            <a:ext cx="133254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49086" y="1199536"/>
            <a:ext cx="11613141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1" dirty="0">
                <a:solidFill>
                  <a:srgbClr val="444444"/>
                </a:solidFill>
                <a:latin typeface="Arial"/>
              </a:rPr>
              <a:t>An AI/ML-based adaptive noise cancellation system for real-time </a:t>
            </a:r>
            <a:r>
              <a:rPr sz="1600" b="1" dirty="0" err="1">
                <a:solidFill>
                  <a:srgbClr val="444444"/>
                </a:solidFill>
                <a:latin typeface="Arial"/>
              </a:rPr>
              <a:t>defence</a:t>
            </a:r>
            <a:r>
              <a:rPr sz="1600" b="1" dirty="0">
                <a:solidFill>
                  <a:srgbClr val="444444"/>
                </a:solidFill>
                <a:latin typeface="Arial"/>
              </a:rPr>
              <a:t> communication.</a:t>
            </a:r>
          </a:p>
          <a:p>
            <a:pPr algn="l"/>
            <a:r>
              <a:rPr sz="1600" b="1" dirty="0">
                <a:solidFill>
                  <a:srgbClr val="444444"/>
                </a:solidFill>
                <a:latin typeface="Arial"/>
              </a:rPr>
              <a:t>Suppresses stationary, non-stationary, and impulsive battlefield noise directly on embedded hardware.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49086" y="1740000"/>
            <a:ext cx="60000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sz="1600" b="1">
                <a:solidFill>
                  <a:srgbClr val="1F497D"/>
                </a:solidFill>
                <a:latin typeface="Arial"/>
              </a:rPr>
              <a:t>1.  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49086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/>
              </a:rPr>
              <a:t>CAPTURE</a:t>
            </a:r>
            <a:r>
              <a:rPr lang="en-IN" sz="1050" b="1" dirty="0">
                <a:solidFill>
                  <a:srgbClr val="FFFFFF"/>
                </a:solidFill>
                <a:latin typeface="Arial"/>
              </a:rPr>
              <a:t>[3][4]</a:t>
            </a:r>
            <a:endParaRPr sz="105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200"/>
              </a:spcBef>
            </a:pPr>
            <a:r>
              <a:rPr sz="850" b="0" dirty="0">
                <a:solidFill>
                  <a:srgbClr val="E4EEFB"/>
                </a:solidFill>
                <a:latin typeface="Arial"/>
              </a:rPr>
              <a:t>Speech + </a:t>
            </a:r>
            <a:r>
              <a:rPr sz="850" b="0" dirty="0" err="1">
                <a:solidFill>
                  <a:srgbClr val="E4EEFB"/>
                </a:solidFill>
                <a:latin typeface="Arial"/>
              </a:rPr>
              <a:t>Defence</a:t>
            </a:r>
            <a:r>
              <a:rPr sz="850" b="0" dirty="0">
                <a:solidFill>
                  <a:srgbClr val="E4EEFB"/>
                </a:solidFill>
                <a:latin typeface="Arial"/>
              </a:rPr>
              <a:t> Noise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2009609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2219609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ANALYZE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Speech &amp; Noise Characteristics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3980132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4190132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ADAPT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Changing Noise Conditions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5950655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Rounded Rectangle 15369"/>
          <p:cNvSpPr/>
          <p:nvPr/>
        </p:nvSpPr>
        <p:spPr>
          <a:xfrm>
            <a:off x="6160655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AI ENHANCE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Suppress Noise + Preserve Speech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921178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8131178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EDGE PROCESS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Low-Latency Local Inference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891701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10101701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OUTPUT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Intelligible Speech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249086" y="3092960"/>
            <a:ext cx="5706570" cy="3140692"/>
          </a:xfrm>
          <a:prstGeom prst="rect">
            <a:avLst/>
          </a:prstGeom>
          <a:noFill/>
          <a:ln w="15875">
            <a:solidFill>
              <a:srgbClr val="9A9A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i="1">
                <a:solidFill>
                  <a:srgbClr val="9A9A9A"/>
                </a:solidFill>
                <a:latin typeface="Arial"/>
              </a:rPr>
              <a:t>Paste image here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155656" y="3092960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120000" bIns="80000" rtlCol="0" anchor="t"/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2.   HOW IT ADDRESSES THE PROBLEM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Noise Suppression: </a:t>
            </a:r>
            <a:r>
              <a:rPr sz="1000" b="0">
                <a:solidFill>
                  <a:srgbClr val="444444"/>
                </a:solidFill>
                <a:latin typeface="Arial"/>
              </a:rPr>
              <a:t>removes noise, keeps speech clear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Dynamic Adaptation: </a:t>
            </a:r>
            <a:r>
              <a:rPr sz="1000" b="0">
                <a:solidFill>
                  <a:srgbClr val="444444"/>
                </a:solidFill>
                <a:latin typeface="Arial"/>
              </a:rPr>
              <a:t>adjusts to changing noise conditions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Impulsive Response: </a:t>
            </a:r>
            <a:r>
              <a:rPr sz="1000" b="0">
                <a:solidFill>
                  <a:srgbClr val="444444"/>
                </a:solidFill>
                <a:latin typeface="Arial"/>
              </a:rPr>
              <a:t>reacts instantly to sudden loud sounds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Speech Preservation: </a:t>
            </a:r>
            <a:r>
              <a:rPr sz="1000" b="0">
                <a:solidFill>
                  <a:srgbClr val="444444"/>
                </a:solidFill>
                <a:latin typeface="Arial"/>
              </a:rPr>
              <a:t>keeps voice clear and intelligible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Edge Processing: </a:t>
            </a:r>
            <a:r>
              <a:rPr sz="1000" b="0">
                <a:solidFill>
                  <a:srgbClr val="444444"/>
                </a:solidFill>
                <a:latin typeface="Arial"/>
              </a:rPr>
              <a:t>local processing for faster response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6155656" y="4738306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80000" rIns="120000" bIns="80000" rtlCol="0" anchor="t"/>
          <a:lstStyle/>
          <a:p>
            <a:pPr algn="l"/>
            <a:r>
              <a:rPr sz="1500" b="1" dirty="0">
                <a:solidFill>
                  <a:srgbClr val="1F497D"/>
                </a:solidFill>
                <a:latin typeface="Arial"/>
              </a:rPr>
              <a:t>3.   INNOVATION &amp; UNIQUENESS</a:t>
            </a:r>
          </a:p>
          <a:p>
            <a:pPr algn="l">
              <a:spcBef>
                <a:spcPts val="500"/>
              </a:spcBef>
            </a:pPr>
            <a:r>
              <a:rPr sz="1000" b="1" dirty="0" err="1">
                <a:solidFill>
                  <a:srgbClr val="1F497D"/>
                </a:solidFill>
                <a:latin typeface="Arial"/>
              </a:rPr>
              <a:t>Defence</a:t>
            </a:r>
            <a:r>
              <a:rPr sz="1000" b="1" dirty="0">
                <a:solidFill>
                  <a:srgbClr val="1F497D"/>
                </a:solidFill>
                <a:latin typeface="Arial"/>
              </a:rPr>
              <a:t>-Specific AI</a:t>
            </a:r>
            <a:r>
              <a:rPr lang="en-IN" sz="1000" b="1" dirty="0">
                <a:solidFill>
                  <a:srgbClr val="1F497D"/>
                </a:solidFill>
                <a:latin typeface="Arial"/>
              </a:rPr>
              <a:t>[5]</a:t>
            </a:r>
            <a:r>
              <a:rPr sz="1000" b="1" dirty="0">
                <a:solidFill>
                  <a:srgbClr val="1F497D"/>
                </a:solidFill>
                <a:latin typeface="Arial"/>
              </a:rPr>
              <a:t>: 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extended with curated </a:t>
            </a:r>
            <a:r>
              <a:rPr sz="1000" b="0" dirty="0" err="1">
                <a:solidFill>
                  <a:srgbClr val="444444"/>
                </a:solidFill>
                <a:latin typeface="Arial"/>
              </a:rPr>
              <a:t>defence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-relevant sounds</a:t>
            </a: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/>
              </a:rPr>
              <a:t>Dynamic Adaptation: 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auto-adjusts as surrounding noise changes</a:t>
            </a: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/>
              </a:rPr>
              <a:t>Sudden-Noise Handling: 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fast response without losing speech</a:t>
            </a: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/>
              </a:rPr>
              <a:t>No Reference Noise Needed: 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works from microphone input alone</a:t>
            </a:r>
          </a:p>
          <a:p>
            <a:pPr algn="l">
              <a:spcBef>
                <a:spcPts val="500"/>
              </a:spcBef>
            </a:pPr>
            <a:r>
              <a:rPr sz="1000" b="1" dirty="0">
                <a:solidFill>
                  <a:srgbClr val="1F497D"/>
                </a:solidFill>
                <a:latin typeface="Arial"/>
              </a:rPr>
              <a:t>Edge AI Processing: </a:t>
            </a:r>
            <a:r>
              <a:rPr sz="1000" b="0" dirty="0">
                <a:solidFill>
                  <a:srgbClr val="444444"/>
                </a:solidFill>
                <a:latin typeface="Arial"/>
              </a:rPr>
              <a:t>runs on-device, no internet dependency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97A22-52D5-A815-EBD4-5C7133285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53" y="3101951"/>
            <a:ext cx="5811791" cy="3172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</a:rPr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3220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Phoenix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225296"/>
            <a:ext cx="111858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Arial" panose="020B0604020202020204"/>
              </a:rPr>
              <a:t>1.   TECHNOLOGIES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9016" y="155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1F497D"/>
                </a:solidFill>
                <a:latin typeface="Arial" panose="020B0604020202020204"/>
              </a:rPr>
              <a:t>Python</a:t>
            </a: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Core implementation language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959016" y="155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PyTorch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Model training (laptop)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9016" y="220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ONNX Runtime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Lightweight edge inference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959016" y="220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1F497D"/>
                </a:solidFill>
                <a:latin typeface="Arial" panose="020B0604020202020204"/>
              </a:rPr>
              <a:t>NumPy &amp; SciPy</a:t>
            </a: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STFT / signal processing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9016" y="285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1F497D"/>
                </a:solidFill>
                <a:latin typeface="Arial" panose="020B0604020202020204"/>
              </a:rPr>
              <a:t>GRU Neural Network</a:t>
            </a:r>
            <a:r>
              <a:rPr lang="en-IN" sz="1250" b="1" dirty="0">
                <a:solidFill>
                  <a:srgbClr val="1F497D"/>
                </a:solidFill>
                <a:latin typeface="Arial" panose="020B0604020202020204"/>
              </a:rPr>
              <a:t> [1][2]</a:t>
            </a:r>
            <a:endParaRPr sz="1250" b="1" dirty="0">
              <a:solidFill>
                <a:srgbClr val="1F497D"/>
              </a:solidFill>
              <a:latin typeface="Arial" panose="020B0604020202020204"/>
            </a:endParaRP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Real-time noise-mask model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959016" y="2850000"/>
            <a:ext cx="3300000" cy="5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Raspberry Pi 4/5 (ARM64)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Embedded deployment target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19" y="3602835"/>
            <a:ext cx="111858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F497D"/>
                </a:solidFill>
                <a:latin typeface="Arial" panose="020B0604020202020204"/>
              </a:rPr>
              <a:t>2.   METHODOLOGY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09600" y="4084303"/>
            <a:ext cx="1118585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0070C0"/>
                </a:solidFill>
                <a:latin typeface="Arial" panose="020B0604020202020204"/>
              </a:rPr>
              <a:t>Real-Time Processing Pipeline (Raspberry Pi)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09600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rial" panose="020B0604020202020204"/>
              </a:rPr>
              <a:t>Microphone</a:t>
            </a:r>
          </a:p>
          <a:p>
            <a:pPr algn="ctr">
              <a:spcBef>
                <a:spcPts val="200"/>
              </a:spcBef>
            </a:pPr>
            <a:r>
              <a:rPr sz="850" b="0" dirty="0">
                <a:solidFill>
                  <a:srgbClr val="E4EEFB"/>
                </a:solidFill>
                <a:latin typeface="Arial" panose="020B0604020202020204"/>
              </a:rPr>
              <a:t>Input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2306269" y="4715239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2507437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STFT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Framing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4204106" y="4715239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4405274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Neural Mask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Prediction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6101943" y="4715239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6303111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Apply Mask to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Spectrum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7999780" y="4715239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8200948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Overlap-Add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Reconstruction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9897618" y="4715239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10098786" y="4395199"/>
            <a:ext cx="1696669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Enhanced Audio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Output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09600" y="6036313"/>
            <a:ext cx="111858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1" dirty="0">
                <a:solidFill>
                  <a:srgbClr val="1F497D"/>
                </a:solidFill>
                <a:latin typeface="Arial" panose="020B0604020202020204"/>
              </a:rPr>
              <a:t>Result:   Noisy Speech  →  Real-Time Adaptive Noise Suppression  →  Clear, Intelligible Speech</a:t>
            </a:r>
          </a:p>
        </p:txBody>
      </p:sp>
      <p:pic>
        <p:nvPicPr>
          <p:cNvPr id="17440" name="Hardware Diagra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9016" y="1550000"/>
            <a:ext cx="4235855" cy="184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45807" y="252246"/>
            <a:ext cx="13358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5B9F7424-EAB4-651B-4668-2579D45967DE}"/>
              </a:ext>
            </a:extLst>
          </p:cNvPr>
          <p:cNvSpPr/>
          <p:nvPr/>
        </p:nvSpPr>
        <p:spPr>
          <a:xfrm>
            <a:off x="60960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430C2-403A-030B-4160-98B918940308}"/>
              </a:ext>
            </a:extLst>
          </p:cNvPr>
          <p:cNvSpPr txBox="1"/>
          <p:nvPr/>
        </p:nvSpPr>
        <p:spPr>
          <a:xfrm>
            <a:off x="71932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2012D-909C-C782-7BE2-DC27F0207773}"/>
              </a:ext>
            </a:extLst>
          </p:cNvPr>
          <p:cNvSpPr txBox="1"/>
          <p:nvPr/>
        </p:nvSpPr>
        <p:spPr>
          <a:xfrm>
            <a:off x="1197582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Lightweight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A9448-FBD2-5145-FA6F-1BDA9A4D0DC1}"/>
              </a:ext>
            </a:extLst>
          </p:cNvPr>
          <p:cNvSpPr txBox="1"/>
          <p:nvPr/>
        </p:nvSpPr>
        <p:spPr>
          <a:xfrm>
            <a:off x="746760" y="2071116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GRU + STFT for edge-ready enhancement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85629BD5-3781-1015-35CC-E9C2CA5DF610}"/>
              </a:ext>
            </a:extLst>
          </p:cNvPr>
          <p:cNvSpPr/>
          <p:nvPr/>
        </p:nvSpPr>
        <p:spPr>
          <a:xfrm>
            <a:off x="326136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34A55C-03E7-13FE-FB8C-357C6A96CED3}"/>
              </a:ext>
            </a:extLst>
          </p:cNvPr>
          <p:cNvSpPr txBox="1"/>
          <p:nvPr/>
        </p:nvSpPr>
        <p:spPr>
          <a:xfrm>
            <a:off x="337108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67DB9C-99DC-1981-C22E-BBBA1E3CEB60}"/>
              </a:ext>
            </a:extLst>
          </p:cNvPr>
          <p:cNvSpPr txBox="1"/>
          <p:nvPr/>
        </p:nvSpPr>
        <p:spPr>
          <a:xfrm>
            <a:off x="3735225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Edge Processing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DB2BF2-7D64-0743-7198-475D0A525FF1}"/>
              </a:ext>
            </a:extLst>
          </p:cNvPr>
          <p:cNvSpPr txBox="1"/>
          <p:nvPr/>
        </p:nvSpPr>
        <p:spPr>
          <a:xfrm>
            <a:off x="3567487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ONNX Runtime + Raspberry Pi 4/5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9E1BC643-8FF3-ACA8-3208-AE2F63E143F5}"/>
              </a:ext>
            </a:extLst>
          </p:cNvPr>
          <p:cNvSpPr/>
          <p:nvPr/>
        </p:nvSpPr>
        <p:spPr>
          <a:xfrm>
            <a:off x="60960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849F4B-EBEA-844A-19F7-37BEE675AB0E}"/>
              </a:ext>
            </a:extLst>
          </p:cNvPr>
          <p:cNvSpPr txBox="1"/>
          <p:nvPr/>
        </p:nvSpPr>
        <p:spPr>
          <a:xfrm>
            <a:off x="71932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📊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3B3BD9-0C48-60A4-204C-2A7ABA5DB516}"/>
              </a:ext>
            </a:extLst>
          </p:cNvPr>
          <p:cNvSpPr txBox="1"/>
          <p:nvPr/>
        </p:nvSpPr>
        <p:spPr>
          <a:xfrm>
            <a:off x="1180425" y="2955075"/>
            <a:ext cx="1758558" cy="2846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Accessible Data</a:t>
            </a:r>
            <a:r>
              <a:rPr lang="en-IN" sz="1250" b="1" dirty="0">
                <a:solidFill>
                  <a:srgbClr val="232A30"/>
                </a:solidFill>
                <a:latin typeface="Aptos"/>
              </a:rPr>
              <a:t>[3][4]</a:t>
            </a:r>
            <a:endParaRPr sz="12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3C8486-42C4-361D-21EA-A3652233FA77}"/>
              </a:ext>
            </a:extLst>
          </p:cNvPr>
          <p:cNvSpPr txBox="1"/>
          <p:nvPr/>
        </p:nvSpPr>
        <p:spPr>
          <a:xfrm>
            <a:off x="1002792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Public speech + synthetic noise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DF4B5D9D-1D2D-2A8D-D9D0-1E2378D16524}"/>
              </a:ext>
            </a:extLst>
          </p:cNvPr>
          <p:cNvSpPr/>
          <p:nvPr/>
        </p:nvSpPr>
        <p:spPr>
          <a:xfrm>
            <a:off x="326136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E4B7F-04A3-F1E0-0D15-10060247F560}"/>
              </a:ext>
            </a:extLst>
          </p:cNvPr>
          <p:cNvSpPr txBox="1"/>
          <p:nvPr/>
        </p:nvSpPr>
        <p:spPr>
          <a:xfrm>
            <a:off x="337108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94B3C4-F7B0-BDEA-D2B7-8ADD55823B80}"/>
              </a:ext>
            </a:extLst>
          </p:cNvPr>
          <p:cNvSpPr txBox="1"/>
          <p:nvPr/>
        </p:nvSpPr>
        <p:spPr>
          <a:xfrm>
            <a:off x="3758184" y="2977765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Real-Time Pipeline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AD8475-82C9-8174-4803-C420485D2C6D}"/>
              </a:ext>
            </a:extLst>
          </p:cNvPr>
          <p:cNvSpPr txBox="1"/>
          <p:nvPr/>
        </p:nvSpPr>
        <p:spPr>
          <a:xfrm>
            <a:off x="3567487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Streaming STFT → mask → output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87EC89-F893-E26F-F34C-1B0CCF283F9B}"/>
              </a:ext>
            </a:extLst>
          </p:cNvPr>
          <p:cNvSpPr txBox="1"/>
          <p:nvPr/>
        </p:nvSpPr>
        <p:spPr>
          <a:xfrm>
            <a:off x="654140" y="1157793"/>
            <a:ext cx="143584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FEASIBILITY</a:t>
            </a: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41AD62B3-8D42-1D97-9529-79FF60016C00}"/>
              </a:ext>
            </a:extLst>
          </p:cNvPr>
          <p:cNvSpPr/>
          <p:nvPr/>
        </p:nvSpPr>
        <p:spPr>
          <a:xfrm>
            <a:off x="638698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1B4AA0-86CE-38EC-4DED-843002D6AC4E}"/>
              </a:ext>
            </a:extLst>
          </p:cNvPr>
          <p:cNvSpPr txBox="1"/>
          <p:nvPr/>
        </p:nvSpPr>
        <p:spPr>
          <a:xfrm>
            <a:off x="6496713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5988FF-4A0A-9E8C-1F56-471AD731B1A6}"/>
              </a:ext>
            </a:extLst>
          </p:cNvPr>
          <p:cNvSpPr txBox="1"/>
          <p:nvPr/>
        </p:nvSpPr>
        <p:spPr>
          <a:xfrm>
            <a:off x="6937591" y="1798649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Cost Effective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716631-6AE4-CC1E-909E-D8E186184325}"/>
              </a:ext>
            </a:extLst>
          </p:cNvPr>
          <p:cNvSpPr txBox="1"/>
          <p:nvPr/>
        </p:nvSpPr>
        <p:spPr>
          <a:xfrm>
            <a:off x="6386985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Low-cost, commercially available hardware</a:t>
            </a:r>
          </a:p>
        </p:txBody>
      </p:sp>
      <p:sp>
        <p:nvSpPr>
          <p:cNvPr id="53" name="Rounded Rectangle 25">
            <a:extLst>
              <a:ext uri="{FF2B5EF4-FFF2-40B4-BE49-F238E27FC236}">
                <a16:creationId xmlns:a16="http://schemas.microsoft.com/office/drawing/2014/main" id="{04F5E958-EAE9-2C54-7599-A20D15A1346D}"/>
              </a:ext>
            </a:extLst>
          </p:cNvPr>
          <p:cNvSpPr/>
          <p:nvPr/>
        </p:nvSpPr>
        <p:spPr>
          <a:xfrm>
            <a:off x="903874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2D90A1-FC15-A4EA-136C-4D84621978EF}"/>
              </a:ext>
            </a:extLst>
          </p:cNvPr>
          <p:cNvSpPr txBox="1"/>
          <p:nvPr/>
        </p:nvSpPr>
        <p:spPr>
          <a:xfrm>
            <a:off x="9148472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3884D2-2497-63A0-DCB0-DB73D14C8BCB}"/>
              </a:ext>
            </a:extLst>
          </p:cNvPr>
          <p:cNvSpPr txBox="1"/>
          <p:nvPr/>
        </p:nvSpPr>
        <p:spPr>
          <a:xfrm>
            <a:off x="9587384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Offline Operation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072E9-1A0B-C80B-D53C-5CB9F9136A9A}"/>
              </a:ext>
            </a:extLst>
          </p:cNvPr>
          <p:cNvSpPr txBox="1"/>
          <p:nvPr/>
        </p:nvSpPr>
        <p:spPr>
          <a:xfrm>
            <a:off x="9148472" y="20398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Aptos"/>
              </a:rPr>
              <a:t>Local inference; no cloud dependency</a:t>
            </a:r>
          </a:p>
        </p:txBody>
      </p:sp>
      <p:sp>
        <p:nvSpPr>
          <p:cNvPr id="61" name="Rounded Rectangle 29">
            <a:extLst>
              <a:ext uri="{FF2B5EF4-FFF2-40B4-BE49-F238E27FC236}">
                <a16:creationId xmlns:a16="http://schemas.microsoft.com/office/drawing/2014/main" id="{EEED7C67-BD7E-5658-347D-E44F9FE1B6D4}"/>
              </a:ext>
            </a:extLst>
          </p:cNvPr>
          <p:cNvSpPr/>
          <p:nvPr/>
        </p:nvSpPr>
        <p:spPr>
          <a:xfrm>
            <a:off x="638698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94F939-80AB-B480-8A13-331C25DC5938}"/>
              </a:ext>
            </a:extLst>
          </p:cNvPr>
          <p:cNvSpPr txBox="1"/>
          <p:nvPr/>
        </p:nvSpPr>
        <p:spPr>
          <a:xfrm>
            <a:off x="6496713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📈</a:t>
            </a:r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3AAF280E-8FD5-A6E8-E542-628AD2A90CDA}"/>
              </a:ext>
            </a:extLst>
          </p:cNvPr>
          <p:cNvSpPr txBox="1"/>
          <p:nvPr/>
        </p:nvSpPr>
        <p:spPr>
          <a:xfrm>
            <a:off x="6949341" y="2931868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Scalable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F5E7011E-7746-8DA8-9839-FD143CA429B0}"/>
              </a:ext>
            </a:extLst>
          </p:cNvPr>
          <p:cNvSpPr txBox="1"/>
          <p:nvPr/>
        </p:nvSpPr>
        <p:spPr>
          <a:xfrm>
            <a:off x="6490619" y="3282359"/>
            <a:ext cx="24871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Prototype → advanced</a:t>
            </a:r>
            <a:r>
              <a:rPr lang="en-US" sz="1000" b="0" dirty="0">
                <a:solidFill>
                  <a:srgbClr val="5A646E"/>
                </a:solidFill>
                <a:latin typeface="Aptos"/>
              </a:rPr>
              <a:t> </a:t>
            </a:r>
            <a:r>
              <a:rPr sz="1000" b="0" dirty="0">
                <a:solidFill>
                  <a:srgbClr val="5A646E"/>
                </a:solidFill>
                <a:latin typeface="Aptos"/>
              </a:rPr>
              <a:t>communication systems</a:t>
            </a:r>
          </a:p>
        </p:txBody>
      </p:sp>
      <p:sp>
        <p:nvSpPr>
          <p:cNvPr id="17415" name="Rounded Rectangle 33">
            <a:extLst>
              <a:ext uri="{FF2B5EF4-FFF2-40B4-BE49-F238E27FC236}">
                <a16:creationId xmlns:a16="http://schemas.microsoft.com/office/drawing/2014/main" id="{16AEE5EE-312D-42CB-D7A6-9107A9B71D8D}"/>
              </a:ext>
            </a:extLst>
          </p:cNvPr>
          <p:cNvSpPr/>
          <p:nvPr/>
        </p:nvSpPr>
        <p:spPr>
          <a:xfrm>
            <a:off x="903874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C2BDE79D-EFF7-2076-B9F1-52C9C09A1F61}"/>
              </a:ext>
            </a:extLst>
          </p:cNvPr>
          <p:cNvSpPr txBox="1"/>
          <p:nvPr/>
        </p:nvSpPr>
        <p:spPr>
          <a:xfrm>
            <a:off x="9148472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🎧</a:t>
            </a:r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A4B463AB-6310-5F82-E033-7E4DA52252A9}"/>
              </a:ext>
            </a:extLst>
          </p:cNvPr>
          <p:cNvSpPr txBox="1"/>
          <p:nvPr/>
        </p:nvSpPr>
        <p:spPr>
          <a:xfrm>
            <a:off x="9648342" y="2948932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Practical Impact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2C70A350-B98E-DCDC-D366-E7A08281D6DF}"/>
              </a:ext>
            </a:extLst>
          </p:cNvPr>
          <p:cNvSpPr txBox="1"/>
          <p:nvPr/>
        </p:nvSpPr>
        <p:spPr>
          <a:xfrm>
            <a:off x="9051527" y="32004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Clearer speech in high-noise environments</a:t>
            </a: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BB734434-6C64-0FB7-075F-3B083639CF5F}"/>
              </a:ext>
            </a:extLst>
          </p:cNvPr>
          <p:cNvSpPr txBox="1"/>
          <p:nvPr/>
        </p:nvSpPr>
        <p:spPr>
          <a:xfrm>
            <a:off x="6319911" y="1181409"/>
            <a:ext cx="123142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378C5B"/>
                </a:solidFill>
                <a:latin typeface="Aptos"/>
              </a:rPr>
              <a:t> VIABILITY</a:t>
            </a:r>
          </a:p>
        </p:txBody>
      </p:sp>
      <p:sp>
        <p:nvSpPr>
          <p:cNvPr id="17495" name="TextBox 17494">
            <a:extLst>
              <a:ext uri="{FF2B5EF4-FFF2-40B4-BE49-F238E27FC236}">
                <a16:creationId xmlns:a16="http://schemas.microsoft.com/office/drawing/2014/main" id="{DD672B28-E931-FF40-134C-1905F2365BCD}"/>
              </a:ext>
            </a:extLst>
          </p:cNvPr>
          <p:cNvSpPr txBox="1"/>
          <p:nvPr/>
        </p:nvSpPr>
        <p:spPr>
          <a:xfrm>
            <a:off x="594360" y="4103926"/>
            <a:ext cx="106527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⚠  CHALLENGES  →  🛠  </a:t>
            </a:r>
            <a:r>
              <a:rPr lang="en-US" b="1" dirty="0">
                <a:solidFill>
                  <a:srgbClr val="12375C"/>
                </a:solidFill>
                <a:latin typeface="Aptos"/>
              </a:rPr>
              <a:t>SOLUTIONS</a:t>
            </a:r>
            <a:endParaRPr sz="1800" b="1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7497" name="Rounded Rectangle 38">
            <a:extLst>
              <a:ext uri="{FF2B5EF4-FFF2-40B4-BE49-F238E27FC236}">
                <a16:creationId xmlns:a16="http://schemas.microsoft.com/office/drawing/2014/main" id="{0E71EBBF-5B04-FCE7-411C-2C4BF11562E7}"/>
              </a:ext>
            </a:extLst>
          </p:cNvPr>
          <p:cNvSpPr/>
          <p:nvPr/>
        </p:nvSpPr>
        <p:spPr>
          <a:xfrm>
            <a:off x="594360" y="4608633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9" name="TextBox 17498">
            <a:extLst>
              <a:ext uri="{FF2B5EF4-FFF2-40B4-BE49-F238E27FC236}">
                <a16:creationId xmlns:a16="http://schemas.microsoft.com/office/drawing/2014/main" id="{F6A0DC2F-9B3B-0C85-8A96-7A47FC1514D6}"/>
              </a:ext>
            </a:extLst>
          </p:cNvPr>
          <p:cNvSpPr txBox="1"/>
          <p:nvPr/>
        </p:nvSpPr>
        <p:spPr>
          <a:xfrm>
            <a:off x="71323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🔊</a:t>
            </a:r>
          </a:p>
        </p:txBody>
      </p:sp>
      <p:sp>
        <p:nvSpPr>
          <p:cNvPr id="17501" name="TextBox 17500">
            <a:extLst>
              <a:ext uri="{FF2B5EF4-FFF2-40B4-BE49-F238E27FC236}">
                <a16:creationId xmlns:a16="http://schemas.microsoft.com/office/drawing/2014/main" id="{C7E1BE22-7227-F93C-0D88-8487D6C599B8}"/>
              </a:ext>
            </a:extLst>
          </p:cNvPr>
          <p:cNvSpPr txBox="1"/>
          <p:nvPr/>
        </p:nvSpPr>
        <p:spPr>
          <a:xfrm>
            <a:off x="1051560" y="4604061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Changing / non-stationary noise</a:t>
            </a:r>
          </a:p>
        </p:txBody>
      </p:sp>
      <p:sp>
        <p:nvSpPr>
          <p:cNvPr id="17503" name="TextBox 17502">
            <a:extLst>
              <a:ext uri="{FF2B5EF4-FFF2-40B4-BE49-F238E27FC236}">
                <a16:creationId xmlns:a16="http://schemas.microsoft.com/office/drawing/2014/main" id="{03B925F3-E57F-DC51-7C9E-FE0624DB86B5}"/>
              </a:ext>
            </a:extLst>
          </p:cNvPr>
          <p:cNvSpPr txBox="1"/>
          <p:nvPr/>
        </p:nvSpPr>
        <p:spPr>
          <a:xfrm>
            <a:off x="4864608" y="4604061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05" name="Rounded Rectangle 42">
            <a:extLst>
              <a:ext uri="{FF2B5EF4-FFF2-40B4-BE49-F238E27FC236}">
                <a16:creationId xmlns:a16="http://schemas.microsoft.com/office/drawing/2014/main" id="{283DE8A5-4911-5A53-78BF-5B65E9C5E1F7}"/>
              </a:ext>
            </a:extLst>
          </p:cNvPr>
          <p:cNvSpPr/>
          <p:nvPr/>
        </p:nvSpPr>
        <p:spPr>
          <a:xfrm>
            <a:off x="5532120" y="4608633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7" name="TextBox 17506">
            <a:extLst>
              <a:ext uri="{FF2B5EF4-FFF2-40B4-BE49-F238E27FC236}">
                <a16:creationId xmlns:a16="http://schemas.microsoft.com/office/drawing/2014/main" id="{40A5696E-DF08-0F6D-D1AB-B2C781D1B08B}"/>
              </a:ext>
            </a:extLst>
          </p:cNvPr>
          <p:cNvSpPr txBox="1"/>
          <p:nvPr/>
        </p:nvSpPr>
        <p:spPr>
          <a:xfrm>
            <a:off x="565099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🧠</a:t>
            </a:r>
          </a:p>
        </p:txBody>
      </p:sp>
      <p:sp>
        <p:nvSpPr>
          <p:cNvPr id="17509" name="TextBox 17508">
            <a:extLst>
              <a:ext uri="{FF2B5EF4-FFF2-40B4-BE49-F238E27FC236}">
                <a16:creationId xmlns:a16="http://schemas.microsoft.com/office/drawing/2014/main" id="{D108C165-1733-7277-999B-53368B69E292}"/>
              </a:ext>
            </a:extLst>
          </p:cNvPr>
          <p:cNvSpPr txBox="1"/>
          <p:nvPr/>
        </p:nvSpPr>
        <p:spPr>
          <a:xfrm>
            <a:off x="5989320" y="4604061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Adaptive GRU-based suppression</a:t>
            </a:r>
          </a:p>
        </p:txBody>
      </p:sp>
      <p:sp>
        <p:nvSpPr>
          <p:cNvPr id="17511" name="Rounded Rectangle 45">
            <a:extLst>
              <a:ext uri="{FF2B5EF4-FFF2-40B4-BE49-F238E27FC236}">
                <a16:creationId xmlns:a16="http://schemas.microsoft.com/office/drawing/2014/main" id="{6C5A3A1E-6BAC-5D33-7814-D5E0AA45A2A5}"/>
              </a:ext>
            </a:extLst>
          </p:cNvPr>
          <p:cNvSpPr/>
          <p:nvPr/>
        </p:nvSpPr>
        <p:spPr>
          <a:xfrm>
            <a:off x="594360" y="5001824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3" name="TextBox 17512">
            <a:extLst>
              <a:ext uri="{FF2B5EF4-FFF2-40B4-BE49-F238E27FC236}">
                <a16:creationId xmlns:a16="http://schemas.microsoft.com/office/drawing/2014/main" id="{9E60B36F-BE67-0955-EFEC-48999B435BE1}"/>
              </a:ext>
            </a:extLst>
          </p:cNvPr>
          <p:cNvSpPr txBox="1"/>
          <p:nvPr/>
        </p:nvSpPr>
        <p:spPr>
          <a:xfrm>
            <a:off x="71323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💥</a:t>
            </a:r>
          </a:p>
        </p:txBody>
      </p:sp>
      <p:sp>
        <p:nvSpPr>
          <p:cNvPr id="17515" name="TextBox 17514">
            <a:extLst>
              <a:ext uri="{FF2B5EF4-FFF2-40B4-BE49-F238E27FC236}">
                <a16:creationId xmlns:a16="http://schemas.microsoft.com/office/drawing/2014/main" id="{949E22BF-E2E7-C53B-5141-39B78C5B286D}"/>
              </a:ext>
            </a:extLst>
          </p:cNvPr>
          <p:cNvSpPr txBox="1"/>
          <p:nvPr/>
        </p:nvSpPr>
        <p:spPr>
          <a:xfrm>
            <a:off x="1051560" y="4997253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Impulsive noise</a:t>
            </a:r>
          </a:p>
        </p:txBody>
      </p:sp>
      <p:sp>
        <p:nvSpPr>
          <p:cNvPr id="17517" name="TextBox 17516">
            <a:extLst>
              <a:ext uri="{FF2B5EF4-FFF2-40B4-BE49-F238E27FC236}">
                <a16:creationId xmlns:a16="http://schemas.microsoft.com/office/drawing/2014/main" id="{0CA7E2EC-2400-D74D-7B71-18EE7B25B120}"/>
              </a:ext>
            </a:extLst>
          </p:cNvPr>
          <p:cNvSpPr txBox="1"/>
          <p:nvPr/>
        </p:nvSpPr>
        <p:spPr>
          <a:xfrm>
            <a:off x="4864608" y="4997253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19" name="Rounded Rectangle 49">
            <a:extLst>
              <a:ext uri="{FF2B5EF4-FFF2-40B4-BE49-F238E27FC236}">
                <a16:creationId xmlns:a16="http://schemas.microsoft.com/office/drawing/2014/main" id="{20C475EA-59F7-9708-C02B-F3EFCB5B0F13}"/>
              </a:ext>
            </a:extLst>
          </p:cNvPr>
          <p:cNvSpPr/>
          <p:nvPr/>
        </p:nvSpPr>
        <p:spPr>
          <a:xfrm>
            <a:off x="5532120" y="5001824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1" name="TextBox 17520">
            <a:extLst>
              <a:ext uri="{FF2B5EF4-FFF2-40B4-BE49-F238E27FC236}">
                <a16:creationId xmlns:a16="http://schemas.microsoft.com/office/drawing/2014/main" id="{A4459E3E-10E2-52B4-A648-F3465F475D55}"/>
              </a:ext>
            </a:extLst>
          </p:cNvPr>
          <p:cNvSpPr txBox="1"/>
          <p:nvPr/>
        </p:nvSpPr>
        <p:spPr>
          <a:xfrm>
            <a:off x="565099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🎯</a:t>
            </a:r>
          </a:p>
        </p:txBody>
      </p:sp>
      <p:sp>
        <p:nvSpPr>
          <p:cNvPr id="17523" name="TextBox 17522">
            <a:extLst>
              <a:ext uri="{FF2B5EF4-FFF2-40B4-BE49-F238E27FC236}">
                <a16:creationId xmlns:a16="http://schemas.microsoft.com/office/drawing/2014/main" id="{45E2AE17-B36C-D395-EE66-1AA0E9249918}"/>
              </a:ext>
            </a:extLst>
          </p:cNvPr>
          <p:cNvSpPr txBox="1"/>
          <p:nvPr/>
        </p:nvSpPr>
        <p:spPr>
          <a:xfrm>
            <a:off x="5989320" y="4940380"/>
            <a:ext cx="5033750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IN" sz="1050" b="1" dirty="0">
                <a:solidFill>
                  <a:srgbClr val="232A30"/>
                </a:solidFill>
                <a:latin typeface="Aptos"/>
              </a:rPr>
              <a:t>Adaptive masking trained on real transient-noise examples (claps, clicks, glass </a:t>
            </a:r>
          </a:p>
          <a:p>
            <a:pPr algn="l"/>
            <a:r>
              <a:rPr lang="en-IN" sz="1050" b="1" dirty="0" err="1">
                <a:solidFill>
                  <a:srgbClr val="232A30"/>
                </a:solidFill>
                <a:latin typeface="Aptos"/>
              </a:rPr>
              <a:t>breaks,fireworks</a:t>
            </a:r>
            <a:r>
              <a:rPr lang="en-IN" sz="1050" b="1" dirty="0">
                <a:solidFill>
                  <a:srgbClr val="232A30"/>
                </a:solidFill>
                <a:latin typeface="Aptos"/>
              </a:rPr>
              <a:t>)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25" name="Rounded Rectangle 52">
            <a:extLst>
              <a:ext uri="{FF2B5EF4-FFF2-40B4-BE49-F238E27FC236}">
                <a16:creationId xmlns:a16="http://schemas.microsoft.com/office/drawing/2014/main" id="{A83706E6-CDD9-A337-D71A-7B82311DD746}"/>
              </a:ext>
            </a:extLst>
          </p:cNvPr>
          <p:cNvSpPr/>
          <p:nvPr/>
        </p:nvSpPr>
        <p:spPr>
          <a:xfrm>
            <a:off x="594360" y="5395017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7" name="TextBox 17526">
            <a:extLst>
              <a:ext uri="{FF2B5EF4-FFF2-40B4-BE49-F238E27FC236}">
                <a16:creationId xmlns:a16="http://schemas.microsoft.com/office/drawing/2014/main" id="{8FA073CC-C68F-319E-C0FC-9B8042069B01}"/>
              </a:ext>
            </a:extLst>
          </p:cNvPr>
          <p:cNvSpPr txBox="1"/>
          <p:nvPr/>
        </p:nvSpPr>
        <p:spPr>
          <a:xfrm>
            <a:off x="71323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🗣</a:t>
            </a:r>
          </a:p>
        </p:txBody>
      </p:sp>
      <p:sp>
        <p:nvSpPr>
          <p:cNvPr id="17529" name="TextBox 17528">
            <a:extLst>
              <a:ext uri="{FF2B5EF4-FFF2-40B4-BE49-F238E27FC236}">
                <a16:creationId xmlns:a16="http://schemas.microsoft.com/office/drawing/2014/main" id="{93BB1070-14D2-3170-8FE0-0F21285E910C}"/>
              </a:ext>
            </a:extLst>
          </p:cNvPr>
          <p:cNvSpPr txBox="1"/>
          <p:nvPr/>
        </p:nvSpPr>
        <p:spPr>
          <a:xfrm>
            <a:off x="1051560" y="5390445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 distortion</a:t>
            </a:r>
          </a:p>
        </p:txBody>
      </p:sp>
      <p:sp>
        <p:nvSpPr>
          <p:cNvPr id="17531" name="TextBox 17530">
            <a:extLst>
              <a:ext uri="{FF2B5EF4-FFF2-40B4-BE49-F238E27FC236}">
                <a16:creationId xmlns:a16="http://schemas.microsoft.com/office/drawing/2014/main" id="{E6B45274-DF5F-5336-4806-3E615E63C877}"/>
              </a:ext>
            </a:extLst>
          </p:cNvPr>
          <p:cNvSpPr txBox="1"/>
          <p:nvPr/>
        </p:nvSpPr>
        <p:spPr>
          <a:xfrm>
            <a:off x="4864608" y="5390445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33" name="Rounded Rectangle 56">
            <a:extLst>
              <a:ext uri="{FF2B5EF4-FFF2-40B4-BE49-F238E27FC236}">
                <a16:creationId xmlns:a16="http://schemas.microsoft.com/office/drawing/2014/main" id="{AC4C817D-2C23-2F0F-FF52-18EB67BC9634}"/>
              </a:ext>
            </a:extLst>
          </p:cNvPr>
          <p:cNvSpPr/>
          <p:nvPr/>
        </p:nvSpPr>
        <p:spPr>
          <a:xfrm>
            <a:off x="5532120" y="5395017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5" name="TextBox 17534">
            <a:extLst>
              <a:ext uri="{FF2B5EF4-FFF2-40B4-BE49-F238E27FC236}">
                <a16:creationId xmlns:a16="http://schemas.microsoft.com/office/drawing/2014/main" id="{BC679900-531F-4E36-9D25-A3BA0A4BAB97}"/>
              </a:ext>
            </a:extLst>
          </p:cNvPr>
          <p:cNvSpPr txBox="1"/>
          <p:nvPr/>
        </p:nvSpPr>
        <p:spPr>
          <a:xfrm>
            <a:off x="565099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🗣</a:t>
            </a:r>
          </a:p>
        </p:txBody>
      </p:sp>
      <p:sp>
        <p:nvSpPr>
          <p:cNvPr id="17537" name="TextBox 17536">
            <a:extLst>
              <a:ext uri="{FF2B5EF4-FFF2-40B4-BE49-F238E27FC236}">
                <a16:creationId xmlns:a16="http://schemas.microsoft.com/office/drawing/2014/main" id="{AF92DC7D-C6EF-953F-C466-ADC8C6EE5428}"/>
              </a:ext>
            </a:extLst>
          </p:cNvPr>
          <p:cNvSpPr txBox="1"/>
          <p:nvPr/>
        </p:nvSpPr>
        <p:spPr>
          <a:xfrm>
            <a:off x="5989320" y="5390445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Speech-preservation objective</a:t>
            </a:r>
          </a:p>
        </p:txBody>
      </p:sp>
      <p:sp>
        <p:nvSpPr>
          <p:cNvPr id="17539" name="Rounded Rectangle 59">
            <a:extLst>
              <a:ext uri="{FF2B5EF4-FFF2-40B4-BE49-F238E27FC236}">
                <a16:creationId xmlns:a16="http://schemas.microsoft.com/office/drawing/2014/main" id="{8C7C701D-CB2D-56E2-71DF-E320104BFC9E}"/>
              </a:ext>
            </a:extLst>
          </p:cNvPr>
          <p:cNvSpPr/>
          <p:nvPr/>
        </p:nvSpPr>
        <p:spPr>
          <a:xfrm>
            <a:off x="594360" y="5788209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1" name="TextBox 17540">
            <a:extLst>
              <a:ext uri="{FF2B5EF4-FFF2-40B4-BE49-F238E27FC236}">
                <a16:creationId xmlns:a16="http://schemas.microsoft.com/office/drawing/2014/main" id="{7FE13DDC-E80A-C672-56D5-2204836DCF27}"/>
              </a:ext>
            </a:extLst>
          </p:cNvPr>
          <p:cNvSpPr txBox="1"/>
          <p:nvPr/>
        </p:nvSpPr>
        <p:spPr>
          <a:xfrm>
            <a:off x="71323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⏱</a:t>
            </a:r>
          </a:p>
        </p:txBody>
      </p:sp>
      <p:sp>
        <p:nvSpPr>
          <p:cNvPr id="17543" name="TextBox 17542">
            <a:extLst>
              <a:ext uri="{FF2B5EF4-FFF2-40B4-BE49-F238E27FC236}">
                <a16:creationId xmlns:a16="http://schemas.microsoft.com/office/drawing/2014/main" id="{126B18FD-EE04-961D-3123-B493651C82E2}"/>
              </a:ext>
            </a:extLst>
          </p:cNvPr>
          <p:cNvSpPr txBox="1"/>
          <p:nvPr/>
        </p:nvSpPr>
        <p:spPr>
          <a:xfrm>
            <a:off x="1051560" y="5783637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Embedded latency</a:t>
            </a:r>
          </a:p>
        </p:txBody>
      </p:sp>
      <p:sp>
        <p:nvSpPr>
          <p:cNvPr id="17545" name="TextBox 17544">
            <a:extLst>
              <a:ext uri="{FF2B5EF4-FFF2-40B4-BE49-F238E27FC236}">
                <a16:creationId xmlns:a16="http://schemas.microsoft.com/office/drawing/2014/main" id="{52C87B4F-4C0A-F8D6-59A3-C6D00E73907F}"/>
              </a:ext>
            </a:extLst>
          </p:cNvPr>
          <p:cNvSpPr txBox="1"/>
          <p:nvPr/>
        </p:nvSpPr>
        <p:spPr>
          <a:xfrm>
            <a:off x="4864608" y="5783637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47" name="Rounded Rectangle 63">
            <a:extLst>
              <a:ext uri="{FF2B5EF4-FFF2-40B4-BE49-F238E27FC236}">
                <a16:creationId xmlns:a16="http://schemas.microsoft.com/office/drawing/2014/main" id="{3DD437DC-5345-2ED7-3681-A82AF7E4B984}"/>
              </a:ext>
            </a:extLst>
          </p:cNvPr>
          <p:cNvSpPr/>
          <p:nvPr/>
        </p:nvSpPr>
        <p:spPr>
          <a:xfrm>
            <a:off x="5532120" y="5788209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9" name="TextBox 17548">
            <a:extLst>
              <a:ext uri="{FF2B5EF4-FFF2-40B4-BE49-F238E27FC236}">
                <a16:creationId xmlns:a16="http://schemas.microsoft.com/office/drawing/2014/main" id="{2C880A98-FDB9-37D4-F690-B8FA80AD1F1D}"/>
              </a:ext>
            </a:extLst>
          </p:cNvPr>
          <p:cNvSpPr txBox="1"/>
          <p:nvPr/>
        </p:nvSpPr>
        <p:spPr>
          <a:xfrm>
            <a:off x="565099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⚡</a:t>
            </a:r>
          </a:p>
        </p:txBody>
      </p:sp>
      <p:sp>
        <p:nvSpPr>
          <p:cNvPr id="17551" name="TextBox 17550">
            <a:extLst>
              <a:ext uri="{FF2B5EF4-FFF2-40B4-BE49-F238E27FC236}">
                <a16:creationId xmlns:a16="http://schemas.microsoft.com/office/drawing/2014/main" id="{8E365057-6D03-C75F-932E-8AFF16CD3D11}"/>
              </a:ext>
            </a:extLst>
          </p:cNvPr>
          <p:cNvSpPr txBox="1"/>
          <p:nvPr/>
        </p:nvSpPr>
        <p:spPr>
          <a:xfrm>
            <a:off x="5989320" y="5783637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Lightweight model + ONNX optimization</a:t>
            </a:r>
          </a:p>
        </p:txBody>
      </p:sp>
      <p:sp>
        <p:nvSpPr>
          <p:cNvPr id="17553" name="Rounded Rectangle 66">
            <a:extLst>
              <a:ext uri="{FF2B5EF4-FFF2-40B4-BE49-F238E27FC236}">
                <a16:creationId xmlns:a16="http://schemas.microsoft.com/office/drawing/2014/main" id="{0308932B-3D07-DB9C-26B3-684850378FF4}"/>
              </a:ext>
            </a:extLst>
          </p:cNvPr>
          <p:cNvSpPr/>
          <p:nvPr/>
        </p:nvSpPr>
        <p:spPr>
          <a:xfrm>
            <a:off x="594360" y="6181401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5" name="TextBox 17554">
            <a:extLst>
              <a:ext uri="{FF2B5EF4-FFF2-40B4-BE49-F238E27FC236}">
                <a16:creationId xmlns:a16="http://schemas.microsoft.com/office/drawing/2014/main" id="{C6DF3E2F-853A-0FE4-75C4-D04C7EE31458}"/>
              </a:ext>
            </a:extLst>
          </p:cNvPr>
          <p:cNvSpPr txBox="1"/>
          <p:nvPr/>
        </p:nvSpPr>
        <p:spPr>
          <a:xfrm>
            <a:off x="71323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📊</a:t>
            </a:r>
          </a:p>
        </p:txBody>
      </p:sp>
      <p:sp>
        <p:nvSpPr>
          <p:cNvPr id="17557" name="TextBox 17556">
            <a:extLst>
              <a:ext uri="{FF2B5EF4-FFF2-40B4-BE49-F238E27FC236}">
                <a16:creationId xmlns:a16="http://schemas.microsoft.com/office/drawing/2014/main" id="{61AC65F3-C1E0-9E7E-18A6-36372F688D18}"/>
              </a:ext>
            </a:extLst>
          </p:cNvPr>
          <p:cNvSpPr txBox="1"/>
          <p:nvPr/>
        </p:nvSpPr>
        <p:spPr>
          <a:xfrm>
            <a:off x="1051560" y="6176829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Limited defence data</a:t>
            </a:r>
          </a:p>
        </p:txBody>
      </p:sp>
      <p:sp>
        <p:nvSpPr>
          <p:cNvPr id="17559" name="TextBox 17558">
            <a:extLst>
              <a:ext uri="{FF2B5EF4-FFF2-40B4-BE49-F238E27FC236}">
                <a16:creationId xmlns:a16="http://schemas.microsoft.com/office/drawing/2014/main" id="{DFAAE1D9-16E6-C8BD-C57C-B11002B6CAE9}"/>
              </a:ext>
            </a:extLst>
          </p:cNvPr>
          <p:cNvSpPr txBox="1"/>
          <p:nvPr/>
        </p:nvSpPr>
        <p:spPr>
          <a:xfrm>
            <a:off x="4864608" y="6176829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61" name="Rounded Rectangle 70">
            <a:extLst>
              <a:ext uri="{FF2B5EF4-FFF2-40B4-BE49-F238E27FC236}">
                <a16:creationId xmlns:a16="http://schemas.microsoft.com/office/drawing/2014/main" id="{B6AED44A-4C26-0661-7CA1-91A0254BFB81}"/>
              </a:ext>
            </a:extLst>
          </p:cNvPr>
          <p:cNvSpPr/>
          <p:nvPr/>
        </p:nvSpPr>
        <p:spPr>
          <a:xfrm>
            <a:off x="5532120" y="6181401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3" name="TextBox 17562">
            <a:extLst>
              <a:ext uri="{FF2B5EF4-FFF2-40B4-BE49-F238E27FC236}">
                <a16:creationId xmlns:a16="http://schemas.microsoft.com/office/drawing/2014/main" id="{11D62601-D2C5-A5C6-C544-6851FA65A2D8}"/>
              </a:ext>
            </a:extLst>
          </p:cNvPr>
          <p:cNvSpPr txBox="1"/>
          <p:nvPr/>
        </p:nvSpPr>
        <p:spPr>
          <a:xfrm>
            <a:off x="565099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📚</a:t>
            </a:r>
          </a:p>
        </p:txBody>
      </p:sp>
      <p:sp>
        <p:nvSpPr>
          <p:cNvPr id="17565" name="TextBox 17564">
            <a:extLst>
              <a:ext uri="{FF2B5EF4-FFF2-40B4-BE49-F238E27FC236}">
                <a16:creationId xmlns:a16="http://schemas.microsoft.com/office/drawing/2014/main" id="{1BA3EFF3-07BD-52EB-5882-DA836AA0DBF3}"/>
              </a:ext>
            </a:extLst>
          </p:cNvPr>
          <p:cNvSpPr txBox="1"/>
          <p:nvPr/>
        </p:nvSpPr>
        <p:spPr>
          <a:xfrm>
            <a:off x="5989320" y="6200747"/>
            <a:ext cx="2372765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Public + synthetic noise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0942" y="1303716"/>
            <a:ext cx="1105145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on target audience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4741" y="64928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61993" y="252246"/>
            <a:ext cx="13196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9BB581-F6B0-E0D2-4F0C-7E5AF02665BE}"/>
              </a:ext>
            </a:extLst>
          </p:cNvPr>
          <p:cNvSpPr/>
          <p:nvPr/>
        </p:nvSpPr>
        <p:spPr>
          <a:xfrm>
            <a:off x="1445342" y="2035277"/>
            <a:ext cx="4188542" cy="110121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Clearer commands, Less communication errors, reliable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15667D-C45D-586E-A929-5881857FE953}"/>
              </a:ext>
            </a:extLst>
          </p:cNvPr>
          <p:cNvSpPr/>
          <p:nvPr/>
        </p:nvSpPr>
        <p:spPr>
          <a:xfrm>
            <a:off x="6250200" y="2035277"/>
            <a:ext cx="4188542" cy="11012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Operators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speech intelligibility, reduced listening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D408A-9E37-D1A7-A19A-3C5FFA9BF7EF}"/>
              </a:ext>
            </a:extLst>
          </p:cNvPr>
          <p:cNvSpPr txBox="1"/>
          <p:nvPr/>
        </p:nvSpPr>
        <p:spPr>
          <a:xfrm>
            <a:off x="530942" y="3235240"/>
            <a:ext cx="11051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Benefits</a:t>
            </a:r>
            <a:endParaRPr lang="en-IN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7DF5D3C2-C901-DD95-E269-6CE01E8F9DDA}"/>
              </a:ext>
            </a:extLst>
          </p:cNvPr>
          <p:cNvSpPr/>
          <p:nvPr/>
        </p:nvSpPr>
        <p:spPr>
          <a:xfrm>
            <a:off x="261992" y="3949762"/>
            <a:ext cx="3703320" cy="26060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7423" name="Rounded Rectangle 31">
            <a:extLst>
              <a:ext uri="{FF2B5EF4-FFF2-40B4-BE49-F238E27FC236}">
                <a16:creationId xmlns:a16="http://schemas.microsoft.com/office/drawing/2014/main" id="{4685C1F6-54DC-9162-D8C4-D7A38D73ACC1}"/>
              </a:ext>
            </a:extLst>
          </p:cNvPr>
          <p:cNvSpPr/>
          <p:nvPr/>
        </p:nvSpPr>
        <p:spPr>
          <a:xfrm>
            <a:off x="4351392" y="3949762"/>
            <a:ext cx="3703320" cy="2606040"/>
          </a:xfrm>
          <a:prstGeom prst="roundRect">
            <a:avLst/>
          </a:prstGeom>
          <a:solidFill>
            <a:srgbClr val="EBF6EE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424" name="Rounded Rectangle 44">
            <a:extLst>
              <a:ext uri="{FF2B5EF4-FFF2-40B4-BE49-F238E27FC236}">
                <a16:creationId xmlns:a16="http://schemas.microsoft.com/office/drawing/2014/main" id="{8242B7D2-83C5-B781-2D68-8309E73B186C}"/>
              </a:ext>
            </a:extLst>
          </p:cNvPr>
          <p:cNvSpPr/>
          <p:nvPr/>
        </p:nvSpPr>
        <p:spPr>
          <a:xfrm>
            <a:off x="8226688" y="3949762"/>
            <a:ext cx="3703320" cy="260604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425" name="TextBox 19">
            <a:extLst>
              <a:ext uri="{FF2B5EF4-FFF2-40B4-BE49-F238E27FC236}">
                <a16:creationId xmlns:a16="http://schemas.microsoft.com/office/drawing/2014/main" id="{FA353CA3-7422-4B55-DC9A-69F436773815}"/>
              </a:ext>
            </a:extLst>
          </p:cNvPr>
          <p:cNvSpPr txBox="1"/>
          <p:nvPr/>
        </p:nvSpPr>
        <p:spPr>
          <a:xfrm>
            <a:off x="548503" y="414223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 dirty="0">
                <a:solidFill>
                  <a:srgbClr val="3074A9"/>
                </a:solidFill>
                <a:latin typeface="Aptos"/>
              </a:rPr>
              <a:t>🗣</a:t>
            </a:r>
          </a:p>
        </p:txBody>
      </p:sp>
      <p:sp>
        <p:nvSpPr>
          <p:cNvPr id="17426" name="TextBox 20">
            <a:extLst>
              <a:ext uri="{FF2B5EF4-FFF2-40B4-BE49-F238E27FC236}">
                <a16:creationId xmlns:a16="http://schemas.microsoft.com/office/drawing/2014/main" id="{D99B8F6E-8AAB-1D8E-BB3A-BB5CC4AD0ADB}"/>
              </a:ext>
            </a:extLst>
          </p:cNvPr>
          <p:cNvSpPr txBox="1"/>
          <p:nvPr/>
        </p:nvSpPr>
        <p:spPr>
          <a:xfrm>
            <a:off x="1124576" y="411480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COMMUNICATION IMPACT</a:t>
            </a:r>
          </a:p>
        </p:txBody>
      </p:sp>
      <p:sp>
        <p:nvSpPr>
          <p:cNvPr id="17427" name="TextBox 21">
            <a:extLst>
              <a:ext uri="{FF2B5EF4-FFF2-40B4-BE49-F238E27FC236}">
                <a16:creationId xmlns:a16="http://schemas.microsoft.com/office/drawing/2014/main" id="{0C2948D2-C505-EF5F-6B02-FD735379E4AD}"/>
              </a:ext>
            </a:extLst>
          </p:cNvPr>
          <p:cNvSpPr txBox="1"/>
          <p:nvPr/>
        </p:nvSpPr>
        <p:spPr>
          <a:xfrm>
            <a:off x="1108541" y="4422907"/>
            <a:ext cx="239360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 dirty="0">
                <a:solidFill>
                  <a:srgbClr val="64696E"/>
                </a:solidFill>
                <a:latin typeface="Aptos"/>
              </a:rPr>
              <a:t>Better understanding &amp; coordination</a:t>
            </a:r>
          </a:p>
        </p:txBody>
      </p:sp>
      <p:sp>
        <p:nvSpPr>
          <p:cNvPr id="17428" name="TextBox 22">
            <a:extLst>
              <a:ext uri="{FF2B5EF4-FFF2-40B4-BE49-F238E27FC236}">
                <a16:creationId xmlns:a16="http://schemas.microsoft.com/office/drawing/2014/main" id="{86D3E3BB-08CD-0043-5EB2-6B72AAF6D10D}"/>
              </a:ext>
            </a:extLst>
          </p:cNvPr>
          <p:cNvSpPr txBox="1"/>
          <p:nvPr/>
        </p:nvSpPr>
        <p:spPr>
          <a:xfrm>
            <a:off x="594224" y="480060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1.</a:t>
            </a:r>
          </a:p>
        </p:txBody>
      </p:sp>
      <p:sp>
        <p:nvSpPr>
          <p:cNvPr id="17429" name="TextBox 23">
            <a:extLst>
              <a:ext uri="{FF2B5EF4-FFF2-40B4-BE49-F238E27FC236}">
                <a16:creationId xmlns:a16="http://schemas.microsoft.com/office/drawing/2014/main" id="{9EB73988-0298-E009-5AC2-1394D5F81909}"/>
              </a:ext>
            </a:extLst>
          </p:cNvPr>
          <p:cNvSpPr txBox="1"/>
          <p:nvPr/>
        </p:nvSpPr>
        <p:spPr>
          <a:xfrm>
            <a:off x="914264" y="4802084"/>
            <a:ext cx="1441420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 dirty="0">
                <a:solidFill>
                  <a:srgbClr val="2D3237"/>
                </a:solidFill>
                <a:latin typeface="Aptos"/>
              </a:rPr>
              <a:t>Safer communication</a:t>
            </a:r>
          </a:p>
        </p:txBody>
      </p:sp>
      <p:sp>
        <p:nvSpPr>
          <p:cNvPr id="17430" name="TextBox 24">
            <a:extLst>
              <a:ext uri="{FF2B5EF4-FFF2-40B4-BE49-F238E27FC236}">
                <a16:creationId xmlns:a16="http://schemas.microsoft.com/office/drawing/2014/main" id="{949F21C7-6E7D-829D-18CB-78FD8000BD5A}"/>
              </a:ext>
            </a:extLst>
          </p:cNvPr>
          <p:cNvSpPr txBox="1"/>
          <p:nvPr/>
        </p:nvSpPr>
        <p:spPr>
          <a:xfrm>
            <a:off x="919046" y="5110973"/>
            <a:ext cx="2900153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Critical instructions remain easier to understand.</a:t>
            </a:r>
          </a:p>
        </p:txBody>
      </p:sp>
      <p:sp>
        <p:nvSpPr>
          <p:cNvPr id="17431" name="TextBox 25">
            <a:extLst>
              <a:ext uri="{FF2B5EF4-FFF2-40B4-BE49-F238E27FC236}">
                <a16:creationId xmlns:a16="http://schemas.microsoft.com/office/drawing/2014/main" id="{ED11BA7E-5FCA-98BB-6D2C-12BFCC120561}"/>
              </a:ext>
            </a:extLst>
          </p:cNvPr>
          <p:cNvSpPr txBox="1"/>
          <p:nvPr/>
        </p:nvSpPr>
        <p:spPr>
          <a:xfrm>
            <a:off x="594224" y="536752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2.</a:t>
            </a:r>
          </a:p>
        </p:txBody>
      </p:sp>
      <p:sp>
        <p:nvSpPr>
          <p:cNvPr id="17432" name="TextBox 26">
            <a:extLst>
              <a:ext uri="{FF2B5EF4-FFF2-40B4-BE49-F238E27FC236}">
                <a16:creationId xmlns:a16="http://schemas.microsoft.com/office/drawing/2014/main" id="{8E7E6C96-7703-AE2F-A4FB-FF51E242792D}"/>
              </a:ext>
            </a:extLst>
          </p:cNvPr>
          <p:cNvSpPr txBox="1"/>
          <p:nvPr/>
        </p:nvSpPr>
        <p:spPr>
          <a:xfrm>
            <a:off x="874831" y="5358853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2D3237"/>
                </a:solidFill>
                <a:latin typeface="Aptos"/>
              </a:rPr>
              <a:t>Reduced listening effort</a:t>
            </a:r>
          </a:p>
        </p:txBody>
      </p:sp>
      <p:sp>
        <p:nvSpPr>
          <p:cNvPr id="17433" name="TextBox 27">
            <a:extLst>
              <a:ext uri="{FF2B5EF4-FFF2-40B4-BE49-F238E27FC236}">
                <a16:creationId xmlns:a16="http://schemas.microsoft.com/office/drawing/2014/main" id="{C88DE3D0-83C5-945C-B5C0-B8EAB80274BA}"/>
              </a:ext>
            </a:extLst>
          </p:cNvPr>
          <p:cNvSpPr txBox="1"/>
          <p:nvPr/>
        </p:nvSpPr>
        <p:spPr>
          <a:xfrm>
            <a:off x="926397" y="5636319"/>
            <a:ext cx="2613216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Less effort to distinguish speech from noise</a:t>
            </a:r>
            <a:r>
              <a:rPr sz="830" b="0" dirty="0">
                <a:solidFill>
                  <a:srgbClr val="64696E"/>
                </a:solidFill>
                <a:latin typeface="Aptos"/>
              </a:rPr>
              <a:t>.</a:t>
            </a:r>
          </a:p>
        </p:txBody>
      </p:sp>
      <p:sp>
        <p:nvSpPr>
          <p:cNvPr id="17434" name="TextBox 28">
            <a:extLst>
              <a:ext uri="{FF2B5EF4-FFF2-40B4-BE49-F238E27FC236}">
                <a16:creationId xmlns:a16="http://schemas.microsoft.com/office/drawing/2014/main" id="{D89E6F22-F944-BA67-E3E3-1DE55FF70636}"/>
              </a:ext>
            </a:extLst>
          </p:cNvPr>
          <p:cNvSpPr txBox="1"/>
          <p:nvPr/>
        </p:nvSpPr>
        <p:spPr>
          <a:xfrm>
            <a:off x="594224" y="593445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3.</a:t>
            </a:r>
          </a:p>
        </p:txBody>
      </p:sp>
      <p:sp>
        <p:nvSpPr>
          <p:cNvPr id="17435" name="TextBox 29">
            <a:extLst>
              <a:ext uri="{FF2B5EF4-FFF2-40B4-BE49-F238E27FC236}">
                <a16:creationId xmlns:a16="http://schemas.microsoft.com/office/drawing/2014/main" id="{E2BC0222-FE7F-31B1-B833-E27B0F0363E5}"/>
              </a:ext>
            </a:extLst>
          </p:cNvPr>
          <p:cNvSpPr txBox="1"/>
          <p:nvPr/>
        </p:nvSpPr>
        <p:spPr>
          <a:xfrm>
            <a:off x="874831" y="5931407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2D3237"/>
                </a:solidFill>
                <a:latin typeface="Aptos"/>
              </a:rPr>
              <a:t>Better coordination</a:t>
            </a:r>
          </a:p>
        </p:txBody>
      </p:sp>
      <p:sp>
        <p:nvSpPr>
          <p:cNvPr id="17436" name="TextBox 30">
            <a:extLst>
              <a:ext uri="{FF2B5EF4-FFF2-40B4-BE49-F238E27FC236}">
                <a16:creationId xmlns:a16="http://schemas.microsoft.com/office/drawing/2014/main" id="{EE3BDABF-3D79-D917-792C-31D4BA2A7D2E}"/>
              </a:ext>
            </a:extLst>
          </p:cNvPr>
          <p:cNvSpPr txBox="1"/>
          <p:nvPr/>
        </p:nvSpPr>
        <p:spPr>
          <a:xfrm>
            <a:off x="874831" y="6150316"/>
            <a:ext cx="31309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Supports clearer communication between personnel</a:t>
            </a:r>
            <a:r>
              <a:rPr sz="830" b="0" dirty="0">
                <a:solidFill>
                  <a:srgbClr val="64696E"/>
                </a:solidFill>
                <a:latin typeface="Aptos"/>
              </a:rPr>
              <a:t>.</a:t>
            </a:r>
          </a:p>
        </p:txBody>
      </p:sp>
      <p:sp>
        <p:nvSpPr>
          <p:cNvPr id="17437" name="TextBox 32">
            <a:extLst>
              <a:ext uri="{FF2B5EF4-FFF2-40B4-BE49-F238E27FC236}">
                <a16:creationId xmlns:a16="http://schemas.microsoft.com/office/drawing/2014/main" id="{D6567032-0F01-2EF2-3AFF-3D62C85178A4}"/>
              </a:ext>
            </a:extLst>
          </p:cNvPr>
          <p:cNvSpPr txBox="1"/>
          <p:nvPr/>
        </p:nvSpPr>
        <p:spPr>
          <a:xfrm>
            <a:off x="4662094" y="409651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3B895B"/>
                </a:solidFill>
                <a:latin typeface="Aptos"/>
              </a:rPr>
              <a:t>💰</a:t>
            </a:r>
          </a:p>
        </p:txBody>
      </p:sp>
      <p:sp>
        <p:nvSpPr>
          <p:cNvPr id="17438" name="TextBox 33">
            <a:extLst>
              <a:ext uri="{FF2B5EF4-FFF2-40B4-BE49-F238E27FC236}">
                <a16:creationId xmlns:a16="http://schemas.microsoft.com/office/drawing/2014/main" id="{24304B07-D3E9-856D-AD4E-EB9D37801699}"/>
              </a:ext>
            </a:extLst>
          </p:cNvPr>
          <p:cNvSpPr txBox="1"/>
          <p:nvPr/>
        </p:nvSpPr>
        <p:spPr>
          <a:xfrm>
            <a:off x="5238166" y="406908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ECONOMIC</a:t>
            </a:r>
          </a:p>
        </p:txBody>
      </p:sp>
      <p:sp>
        <p:nvSpPr>
          <p:cNvPr id="17439" name="TextBox 34">
            <a:extLst>
              <a:ext uri="{FF2B5EF4-FFF2-40B4-BE49-F238E27FC236}">
                <a16:creationId xmlns:a16="http://schemas.microsoft.com/office/drawing/2014/main" id="{8BD4785D-D8E8-8CF1-5015-E755B5B7D3C7}"/>
              </a:ext>
            </a:extLst>
          </p:cNvPr>
          <p:cNvSpPr txBox="1"/>
          <p:nvPr/>
        </p:nvSpPr>
        <p:spPr>
          <a:xfrm>
            <a:off x="5238166" y="4394025"/>
            <a:ext cx="2073003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Low-cost and scalable technology</a:t>
            </a:r>
          </a:p>
        </p:txBody>
      </p:sp>
      <p:sp>
        <p:nvSpPr>
          <p:cNvPr id="17440" name="TextBox 35">
            <a:extLst>
              <a:ext uri="{FF2B5EF4-FFF2-40B4-BE49-F238E27FC236}">
                <a16:creationId xmlns:a16="http://schemas.microsoft.com/office/drawing/2014/main" id="{C2534870-2826-7A86-FB1C-F31EF6E4AAF4}"/>
              </a:ext>
            </a:extLst>
          </p:cNvPr>
          <p:cNvSpPr txBox="1"/>
          <p:nvPr/>
        </p:nvSpPr>
        <p:spPr>
          <a:xfrm>
            <a:off x="4707814" y="475488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1.</a:t>
            </a:r>
          </a:p>
        </p:txBody>
      </p:sp>
      <p:sp>
        <p:nvSpPr>
          <p:cNvPr id="17441" name="TextBox 36">
            <a:extLst>
              <a:ext uri="{FF2B5EF4-FFF2-40B4-BE49-F238E27FC236}">
                <a16:creationId xmlns:a16="http://schemas.microsoft.com/office/drawing/2014/main" id="{55B7C95A-2A2B-F258-11C5-71C7042F9292}"/>
              </a:ext>
            </a:extLst>
          </p:cNvPr>
          <p:cNvSpPr txBox="1"/>
          <p:nvPr/>
        </p:nvSpPr>
        <p:spPr>
          <a:xfrm>
            <a:off x="5091862" y="4754880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Cost-effective</a:t>
            </a:r>
          </a:p>
        </p:txBody>
      </p:sp>
      <p:sp>
        <p:nvSpPr>
          <p:cNvPr id="17442" name="TextBox 37">
            <a:extLst>
              <a:ext uri="{FF2B5EF4-FFF2-40B4-BE49-F238E27FC236}">
                <a16:creationId xmlns:a16="http://schemas.microsoft.com/office/drawing/2014/main" id="{BF93F264-EDDA-C97F-6DD1-F5348B1913E0}"/>
              </a:ext>
            </a:extLst>
          </p:cNvPr>
          <p:cNvSpPr txBox="1"/>
          <p:nvPr/>
        </p:nvSpPr>
        <p:spPr>
          <a:xfrm>
            <a:off x="5091862" y="5034105"/>
            <a:ext cx="298992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dirty="0">
                <a:solidFill>
                  <a:srgbClr val="64696E"/>
                </a:solidFill>
                <a:latin typeface="Aptos"/>
              </a:rPr>
              <a:t>Uses commercially available embedded hardware.</a:t>
            </a:r>
          </a:p>
        </p:txBody>
      </p:sp>
      <p:sp>
        <p:nvSpPr>
          <p:cNvPr id="17443" name="TextBox 38">
            <a:extLst>
              <a:ext uri="{FF2B5EF4-FFF2-40B4-BE49-F238E27FC236}">
                <a16:creationId xmlns:a16="http://schemas.microsoft.com/office/drawing/2014/main" id="{AEC09F65-A359-8A42-6251-E09F9592AD4C}"/>
              </a:ext>
            </a:extLst>
          </p:cNvPr>
          <p:cNvSpPr txBox="1"/>
          <p:nvPr/>
        </p:nvSpPr>
        <p:spPr>
          <a:xfrm>
            <a:off x="4707814" y="532180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2.</a:t>
            </a:r>
          </a:p>
        </p:txBody>
      </p:sp>
      <p:sp>
        <p:nvSpPr>
          <p:cNvPr id="17444" name="TextBox 39">
            <a:extLst>
              <a:ext uri="{FF2B5EF4-FFF2-40B4-BE49-F238E27FC236}">
                <a16:creationId xmlns:a16="http://schemas.microsoft.com/office/drawing/2014/main" id="{94D2F102-DE44-DAEE-FC2B-D37874D0D875}"/>
              </a:ext>
            </a:extLst>
          </p:cNvPr>
          <p:cNvSpPr txBox="1"/>
          <p:nvPr/>
        </p:nvSpPr>
        <p:spPr>
          <a:xfrm>
            <a:off x="5091862" y="5321808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Low infrastructure dependency</a:t>
            </a:r>
          </a:p>
        </p:txBody>
      </p:sp>
      <p:sp>
        <p:nvSpPr>
          <p:cNvPr id="17445" name="TextBox 40">
            <a:extLst>
              <a:ext uri="{FF2B5EF4-FFF2-40B4-BE49-F238E27FC236}">
                <a16:creationId xmlns:a16="http://schemas.microsoft.com/office/drawing/2014/main" id="{027C583A-2A94-B21B-21FB-5AFE8C1049D6}"/>
              </a:ext>
            </a:extLst>
          </p:cNvPr>
          <p:cNvSpPr txBox="1"/>
          <p:nvPr/>
        </p:nvSpPr>
        <p:spPr>
          <a:xfrm>
            <a:off x="5091862" y="553212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Local processing reduces cloud requirements.</a:t>
            </a:r>
          </a:p>
        </p:txBody>
      </p:sp>
      <p:sp>
        <p:nvSpPr>
          <p:cNvPr id="17446" name="TextBox 41">
            <a:extLst>
              <a:ext uri="{FF2B5EF4-FFF2-40B4-BE49-F238E27FC236}">
                <a16:creationId xmlns:a16="http://schemas.microsoft.com/office/drawing/2014/main" id="{9764D8DB-095D-C544-2C77-BC0AC757CE20}"/>
              </a:ext>
            </a:extLst>
          </p:cNvPr>
          <p:cNvSpPr txBox="1"/>
          <p:nvPr/>
        </p:nvSpPr>
        <p:spPr>
          <a:xfrm>
            <a:off x="4707814" y="588873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3.</a:t>
            </a:r>
          </a:p>
        </p:txBody>
      </p:sp>
      <p:sp>
        <p:nvSpPr>
          <p:cNvPr id="17447" name="TextBox 42">
            <a:extLst>
              <a:ext uri="{FF2B5EF4-FFF2-40B4-BE49-F238E27FC236}">
                <a16:creationId xmlns:a16="http://schemas.microsoft.com/office/drawing/2014/main" id="{604BD2D8-E737-2BB0-2025-254D0F9B13C2}"/>
              </a:ext>
            </a:extLst>
          </p:cNvPr>
          <p:cNvSpPr txBox="1"/>
          <p:nvPr/>
        </p:nvSpPr>
        <p:spPr>
          <a:xfrm>
            <a:off x="5091862" y="5888736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Scalable</a:t>
            </a:r>
          </a:p>
        </p:txBody>
      </p:sp>
      <p:sp>
        <p:nvSpPr>
          <p:cNvPr id="17448" name="TextBox 43">
            <a:extLst>
              <a:ext uri="{FF2B5EF4-FFF2-40B4-BE49-F238E27FC236}">
                <a16:creationId xmlns:a16="http://schemas.microsoft.com/office/drawing/2014/main" id="{F2FFDB90-4D77-F6B9-027F-A1FA61A004B1}"/>
              </a:ext>
            </a:extLst>
          </p:cNvPr>
          <p:cNvSpPr txBox="1"/>
          <p:nvPr/>
        </p:nvSpPr>
        <p:spPr>
          <a:xfrm>
            <a:off x="5091862" y="6099048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Can extend from prototype to communication systems.</a:t>
            </a:r>
          </a:p>
        </p:txBody>
      </p:sp>
      <p:sp>
        <p:nvSpPr>
          <p:cNvPr id="17449" name="TextBox 45">
            <a:extLst>
              <a:ext uri="{FF2B5EF4-FFF2-40B4-BE49-F238E27FC236}">
                <a16:creationId xmlns:a16="http://schemas.microsoft.com/office/drawing/2014/main" id="{DCC12079-7004-E9C6-7245-1E22A163D24A}"/>
              </a:ext>
            </a:extLst>
          </p:cNvPr>
          <p:cNvSpPr txBox="1"/>
          <p:nvPr/>
        </p:nvSpPr>
        <p:spPr>
          <a:xfrm>
            <a:off x="8548982" y="4009953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DA7E30"/>
                </a:solidFill>
                <a:latin typeface="Aptos"/>
              </a:rPr>
              <a:t>⚡</a:t>
            </a:r>
          </a:p>
        </p:txBody>
      </p:sp>
      <p:sp>
        <p:nvSpPr>
          <p:cNvPr id="17450" name="TextBox 46">
            <a:extLst>
              <a:ext uri="{FF2B5EF4-FFF2-40B4-BE49-F238E27FC236}">
                <a16:creationId xmlns:a16="http://schemas.microsoft.com/office/drawing/2014/main" id="{FC60D4A4-495C-A11D-9E3D-3A2D3089FCF2}"/>
              </a:ext>
            </a:extLst>
          </p:cNvPr>
          <p:cNvSpPr txBox="1"/>
          <p:nvPr/>
        </p:nvSpPr>
        <p:spPr>
          <a:xfrm>
            <a:off x="9024469" y="4073961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OPERATIONAL RESILIENCE</a:t>
            </a:r>
          </a:p>
        </p:txBody>
      </p:sp>
      <p:sp>
        <p:nvSpPr>
          <p:cNvPr id="17451" name="TextBox 47">
            <a:extLst>
              <a:ext uri="{FF2B5EF4-FFF2-40B4-BE49-F238E27FC236}">
                <a16:creationId xmlns:a16="http://schemas.microsoft.com/office/drawing/2014/main" id="{AE4B18FE-512F-46BF-4AAB-49D1CE898657}"/>
              </a:ext>
            </a:extLst>
          </p:cNvPr>
          <p:cNvSpPr txBox="1"/>
          <p:nvPr/>
        </p:nvSpPr>
        <p:spPr>
          <a:xfrm>
            <a:off x="9125053" y="4302561"/>
            <a:ext cx="2788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64696E"/>
                </a:solidFill>
                <a:latin typeface="Aptos"/>
              </a:rPr>
              <a:t>Designed for demanding environments</a:t>
            </a:r>
          </a:p>
        </p:txBody>
      </p:sp>
      <p:sp>
        <p:nvSpPr>
          <p:cNvPr id="17452" name="TextBox 48">
            <a:extLst>
              <a:ext uri="{FF2B5EF4-FFF2-40B4-BE49-F238E27FC236}">
                <a16:creationId xmlns:a16="http://schemas.microsoft.com/office/drawing/2014/main" id="{E00D1560-E2B4-15B4-184A-68F2CD04F9F6}"/>
              </a:ext>
            </a:extLst>
          </p:cNvPr>
          <p:cNvSpPr txBox="1"/>
          <p:nvPr/>
        </p:nvSpPr>
        <p:spPr>
          <a:xfrm>
            <a:off x="8594701" y="4668321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1.</a:t>
            </a:r>
          </a:p>
        </p:txBody>
      </p:sp>
      <p:sp>
        <p:nvSpPr>
          <p:cNvPr id="17453" name="TextBox 49">
            <a:extLst>
              <a:ext uri="{FF2B5EF4-FFF2-40B4-BE49-F238E27FC236}">
                <a16:creationId xmlns:a16="http://schemas.microsoft.com/office/drawing/2014/main" id="{E3E8AF39-A9F4-F307-54D9-86FBE4DBA1C4}"/>
              </a:ext>
            </a:extLst>
          </p:cNvPr>
          <p:cNvSpPr txBox="1"/>
          <p:nvPr/>
        </p:nvSpPr>
        <p:spPr>
          <a:xfrm>
            <a:off x="8978749" y="4668321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Offline operation</a:t>
            </a:r>
          </a:p>
        </p:txBody>
      </p:sp>
      <p:sp>
        <p:nvSpPr>
          <p:cNvPr id="17454" name="TextBox 50">
            <a:extLst>
              <a:ext uri="{FF2B5EF4-FFF2-40B4-BE49-F238E27FC236}">
                <a16:creationId xmlns:a16="http://schemas.microsoft.com/office/drawing/2014/main" id="{9F091E5D-8E2F-3A49-31BF-782F29AA604C}"/>
              </a:ext>
            </a:extLst>
          </p:cNvPr>
          <p:cNvSpPr txBox="1"/>
          <p:nvPr/>
        </p:nvSpPr>
        <p:spPr>
          <a:xfrm>
            <a:off x="8978749" y="4878633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Speech enhancement continues without internet.</a:t>
            </a:r>
          </a:p>
        </p:txBody>
      </p:sp>
      <p:sp>
        <p:nvSpPr>
          <p:cNvPr id="17455" name="TextBox 51">
            <a:extLst>
              <a:ext uri="{FF2B5EF4-FFF2-40B4-BE49-F238E27FC236}">
                <a16:creationId xmlns:a16="http://schemas.microsoft.com/office/drawing/2014/main" id="{6F604919-E4F9-CCF9-7386-7DC12A1C06A1}"/>
              </a:ext>
            </a:extLst>
          </p:cNvPr>
          <p:cNvSpPr txBox="1"/>
          <p:nvPr/>
        </p:nvSpPr>
        <p:spPr>
          <a:xfrm>
            <a:off x="8594701" y="5235249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2.</a:t>
            </a:r>
          </a:p>
        </p:txBody>
      </p:sp>
      <p:sp>
        <p:nvSpPr>
          <p:cNvPr id="17456" name="TextBox 52">
            <a:extLst>
              <a:ext uri="{FF2B5EF4-FFF2-40B4-BE49-F238E27FC236}">
                <a16:creationId xmlns:a16="http://schemas.microsoft.com/office/drawing/2014/main" id="{D89AD800-28E0-FA9F-649C-EAC0C026B079}"/>
              </a:ext>
            </a:extLst>
          </p:cNvPr>
          <p:cNvSpPr txBox="1"/>
          <p:nvPr/>
        </p:nvSpPr>
        <p:spPr>
          <a:xfrm>
            <a:off x="8978749" y="5235249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Adaptive noise handling</a:t>
            </a:r>
          </a:p>
        </p:txBody>
      </p:sp>
      <p:sp>
        <p:nvSpPr>
          <p:cNvPr id="17457" name="TextBox 53">
            <a:extLst>
              <a:ext uri="{FF2B5EF4-FFF2-40B4-BE49-F238E27FC236}">
                <a16:creationId xmlns:a16="http://schemas.microsoft.com/office/drawing/2014/main" id="{9FF7134F-855B-B096-AD9D-4EC591A23FC1}"/>
              </a:ext>
            </a:extLst>
          </p:cNvPr>
          <p:cNvSpPr txBox="1"/>
          <p:nvPr/>
        </p:nvSpPr>
        <p:spPr>
          <a:xfrm>
            <a:off x="8978749" y="5445561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Targets stationary, changing and impulsive noise.</a:t>
            </a:r>
          </a:p>
        </p:txBody>
      </p:sp>
      <p:sp>
        <p:nvSpPr>
          <p:cNvPr id="17458" name="TextBox 54">
            <a:extLst>
              <a:ext uri="{FF2B5EF4-FFF2-40B4-BE49-F238E27FC236}">
                <a16:creationId xmlns:a16="http://schemas.microsoft.com/office/drawing/2014/main" id="{4D4C3FBD-9133-368D-5F23-6C1AEF43CDC6}"/>
              </a:ext>
            </a:extLst>
          </p:cNvPr>
          <p:cNvSpPr txBox="1"/>
          <p:nvPr/>
        </p:nvSpPr>
        <p:spPr>
          <a:xfrm>
            <a:off x="8594701" y="5802177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3.</a:t>
            </a:r>
          </a:p>
        </p:txBody>
      </p:sp>
      <p:sp>
        <p:nvSpPr>
          <p:cNvPr id="17459" name="TextBox 55">
            <a:extLst>
              <a:ext uri="{FF2B5EF4-FFF2-40B4-BE49-F238E27FC236}">
                <a16:creationId xmlns:a16="http://schemas.microsoft.com/office/drawing/2014/main" id="{AF15B226-D212-E8D5-26B2-8E9278FCE4AA}"/>
              </a:ext>
            </a:extLst>
          </p:cNvPr>
          <p:cNvSpPr txBox="1"/>
          <p:nvPr/>
        </p:nvSpPr>
        <p:spPr>
          <a:xfrm>
            <a:off x="8978749" y="5802177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Real-time edge AI</a:t>
            </a:r>
          </a:p>
        </p:txBody>
      </p:sp>
      <p:sp>
        <p:nvSpPr>
          <p:cNvPr id="17460" name="TextBox 56">
            <a:extLst>
              <a:ext uri="{FF2B5EF4-FFF2-40B4-BE49-F238E27FC236}">
                <a16:creationId xmlns:a16="http://schemas.microsoft.com/office/drawing/2014/main" id="{DC6201AB-970B-3721-B314-68DE09AC88C0}"/>
              </a:ext>
            </a:extLst>
          </p:cNvPr>
          <p:cNvSpPr txBox="1"/>
          <p:nvPr/>
        </p:nvSpPr>
        <p:spPr>
          <a:xfrm>
            <a:off x="8978749" y="6012489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Low-latency local processing for immediate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415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25697"/>
            <a:ext cx="11307097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Valin, J.-M. — "A Hybrid DSP/Deep Learning Approach to Real-Time Full-Band Speech Enhancement" — MMSP 2018.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Schröter, Escalante-B., Rosenkranz, Maier — "DeepFilterNet2: Towards Real-Time Speech Enhancement on Embedded Devices for Full-Band Audio" — IWAENC 2022.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Panayotov, V., Chen, G., Povey, D.,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Khudanpur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(2015).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LibriSpeech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ASR Corpus Based on Public Domain Audio Books. IEEE ICASSP 2015. — source of the clean speech training data (dev-clean subset).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Kominek, J., Black, A.W. (2004). The CMU Arctic Speech Databases. 5th ISCA Speech Synthesis Workshop. — additional source of clean speech training data.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Piczak, K.J. (2015). ESC: Dataset for Environmental Sound Classification. ACM Multimedia 2015. — source of the environmental/noise training data (ESC-50).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6</a:t>
            </a: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235975" y="252246"/>
            <a:ext cx="13456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Phoenix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811</Words>
  <Application>Microsoft Office PowerPoint</Application>
  <PresentationFormat>Widescreen</PresentationFormat>
  <Paragraphs>193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ADAPTIVE AI SPEECH ENHANCEMENT FOR DEFENCE COMMUNICATION</vt:lpstr>
      <vt:lpstr>TECHNICAL APPROACH</vt:lpstr>
      <vt:lpstr>FEASIBILITY AND VIABILITY</vt:lpstr>
      <vt:lpstr>IMPACT AND BENEFITS</vt:lpstr>
      <vt:lpstr>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Vishnu Puli</cp:lastModifiedBy>
  <cp:revision>160</cp:revision>
  <dcterms:created xsi:type="dcterms:W3CDTF">2013-12-12T18:46:00Z</dcterms:created>
  <dcterms:modified xsi:type="dcterms:W3CDTF">2026-09-01T09:34:44Z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5E943015016C4BA08EC34D379BCC36B7_13</vt:lpwstr>
  </property>
  <property fmtid="{D5CDD505-2E9C-101B-9397-08002B2CF9AE}" pid="3" name="KSOProductBuildVer">
    <vt:lpwstr>1033-12.1.0.28032</vt:lpwstr>
  </property>
</Properties>
</file>